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9cbd44-7283-411f-fc8d-0d9e9e05745d}">
          <p14:sldIdLst>
            <p14:sldId id="256"/>
          </p14:sldIdLst>
        </p14:section>
        <p14:section name="Answer" id="{cc308867-1c19-60c0-b363-666a887b2d44}">
          <p14:sldIdLst>
            <p14:sldId id="257"/>
          </p14:sldIdLst>
        </p14:section>
        <p14:section name="Approach" id="{f8627b63-ac16-12b6-56a1-00b73996030b}">
          <p14:sldIdLst>
            <p14:sldId id="258"/>
          </p14:sldIdLst>
        </p14:section>
        <p14:section name="Findings" id="{158ada63-14ce-1b8a-b626-a0863d8e9082}">
          <p14:sldIdLst>
            <p14:sldId id="259"/>
            <p14:sldId id="260"/>
            <p14:sldId id="261"/>
            <p14:sldId id="262"/>
          </p14:sldIdLst>
        </p14:section>
        <p14:section name="Dashboard" id="{d8cdbd0b-a46c-6a66-8ad5-9952a01047c7}">
          <p14:sldIdLst>
            <p14:sldId id="263"/>
          </p14:sldIdLst>
        </p14:section>
        <p14:section name="Next steps" id="{62de579b-300c-ba9f-964a-9cca5f4801bd}">
          <p14:sldIdLst>
            <p14:sldId id="264"/>
          </p14:sldIdLst>
        </p14:section>
        <p14:section name="Close" id="{8d2f1e10-4591-94e8-33c8-91047bb1771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62E"/>
                </a:solidFill>
                <a:latin typeface="+mn-lt"/>
              </a:defRPr>
            </a:pPr>
            <a:r>
              <a:rPr sz="1400" b="0" i="0" u="none" strike="noStrike">
                <a:solidFill>
                  <a:srgbClr val="13262E"/>
                </a:solidFill>
                <a:latin typeface="+mn-lt"/>
              </a:rPr>
              <a:t>Total trips in 2023</a:t>
            </a:r>
          </a:p>
        </c:rich>
      </c:tx>
      <c:layout/>
      <c:overlay val="0"/>
    </c:title>
    <c:autoTitleDeleted val="0"/>
    <c:plotArea>
      <c:layout/>
      <c:barChart>
        <c:barDir val="col"/>
        <c:grouping val="clustered"/>
        <c:varyColors val="0"/>
        <c:ser>
          <c:idx val="0"/>
          <c:order val="0"/>
          <c:tx>
            <c:strRef>
              <c:f>Sheet1!$B$1</c:f>
              <c:strCache>
                <c:ptCount val="1"/>
                <c:pt idx="0">
                  <c:v>Total trips</c:v>
                </c:pt>
              </c:strCache>
            </c:strRef>
          </c:tx>
          <c:spPr>
            <a:solidFill>
              <a:srgbClr val="0E8A74"/>
            </a:solidFill>
            <a:effectLst/>
          </c:spPr>
          <c:invertIfNegative val="0"/>
          <c:dLbls>
            <c:numFmt formatCode="#,##0" sourceLinked="0"/>
            <c:txPr>
              <a:bodyPr/>
              <a:lstStyle/>
              <a:p>
                <a:pPr>
                  <a:defRPr b="1" i="0" strike="noStrike" sz="1300" u="none">
                    <a:solidFill>
                      <a:srgbClr val="13262E"/>
                    </a:solidFill>
                    <a:latin typeface="+mn-lt"/>
                  </a:defRPr>
                </a:pPr>
              </a:p>
            </c:txPr>
            <c:showLegendKey val="0"/>
            <c:showVal val="1"/>
            <c:showCatName val="0"/>
            <c:showSerName val="0"/>
            <c:showPercent val="0"/>
            <c:showBubbleSize val="0"/>
            <c:showLeaderLines val="0"/>
          </c:dLbls>
          <c:dPt>
            <c:idx val="0"/>
            <c:invertIfNegative val="0"/>
            <c:bubble3D val="0"/>
            <c:spPr>
              <a:solidFill>
                <a:srgbClr val="0E8A74"/>
              </a:solidFill>
              <a:effectLst/>
            </c:spPr>
          </c:dPt>
          <c:dPt>
            <c:idx val="1"/>
            <c:invertIfNegative val="0"/>
            <c:bubble3D val="0"/>
            <c:spPr>
              <a:solidFill>
                <a:srgbClr val="E99A2C"/>
              </a:solidFill>
              <a:effectLst/>
            </c:spPr>
          </c:dPt>
          <c:cat>
            <c:multiLvlStrRef>
              <c:f>Sheet1!$A$2:$A$3</c:f>
              <c:multiLvlStrCache>
                <c:ptCount val="2"/>
                <c:lvl>
                  <c:pt idx="0">
                    <c:v>Weekday</c:v>
                  </c:pt>
                  <c:pt idx="1">
                    <c:v>Weekend</c:v>
                  </c:pt>
                </c:lvl>
              </c:multiLvlStrCache>
            </c:multiLvlStrRef>
          </c:cat>
          <c:val>
            <c:numRef>
              <c:f>Sheet1!$B$2:$B$3</c:f>
              <c:numCache>
                <c:formatCode>General</c:formatCode>
                <c:ptCount val="2"/>
                <c:pt idx="0">
                  <c:v>35494</c:v>
                </c:pt>
                <c:pt idx="1">
                  <c:v>14506</c:v>
                </c:pt>
              </c:numCache>
            </c:numRef>
          </c:val>
        </c:ser>
        <c:dLbls>
          <c:numFmt formatCode="#,##0" sourceLinked="0"/>
          <c:txPr>
            <a:bodyPr/>
            <a:lstStyle/>
            <a:p>
              <a:pPr>
                <a:defRPr b="1" i="0" strike="noStrike" sz="1300" u="none">
                  <a:solidFill>
                    <a:srgbClr val="1326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58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9E3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58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62E"/>
                </a:solidFill>
                <a:latin typeface="+mn-lt"/>
              </a:defRPr>
            </a:pPr>
            <a:r>
              <a:rPr sz="1400" b="0" i="0" u="none" strike="noStrike">
                <a:solidFill>
                  <a:srgbClr val="13262E"/>
                </a:solidFill>
                <a:latin typeface="+mn-lt"/>
              </a:rPr>
              <a:t>Trips per day</a:t>
            </a:r>
          </a:p>
        </c:rich>
      </c:tx>
      <c:layout/>
      <c:overlay val="0"/>
    </c:title>
    <c:autoTitleDeleted val="0"/>
    <c:plotArea>
      <c:layout/>
      <c:barChart>
        <c:barDir val="col"/>
        <c:grouping val="clustered"/>
        <c:varyColors val="0"/>
        <c:ser>
          <c:idx val="0"/>
          <c:order val="0"/>
          <c:tx>
            <c:strRef>
              <c:f>Sheet1!$B$1</c:f>
              <c:strCache>
                <c:ptCount val="1"/>
                <c:pt idx="0">
                  <c:v>Trips per day</c:v>
                </c:pt>
              </c:strCache>
            </c:strRef>
          </c:tx>
          <c:spPr>
            <a:solidFill>
              <a:srgbClr val="0E8A74"/>
            </a:solidFill>
            <a:effectLst/>
          </c:spPr>
          <c:invertIfNegative val="0"/>
          <c:dLbls>
            <c:numFmt formatCode="0.0" sourceLinked="0"/>
            <c:txPr>
              <a:bodyPr/>
              <a:lstStyle/>
              <a:p>
                <a:pPr>
                  <a:defRPr b="1" i="0" strike="noStrike" sz="1300" u="none">
                    <a:solidFill>
                      <a:srgbClr val="13262E"/>
                    </a:solidFill>
                    <a:latin typeface="+mn-lt"/>
                  </a:defRPr>
                </a:pPr>
              </a:p>
            </c:txPr>
            <c:showLegendKey val="0"/>
            <c:showVal val="1"/>
            <c:showCatName val="0"/>
            <c:showSerName val="0"/>
            <c:showPercent val="0"/>
            <c:showBubbleSize val="0"/>
            <c:showLeaderLines val="0"/>
          </c:dLbls>
          <c:dPt>
            <c:idx val="0"/>
            <c:invertIfNegative val="0"/>
            <c:bubble3D val="0"/>
            <c:spPr>
              <a:solidFill>
                <a:srgbClr val="0E8A74"/>
              </a:solidFill>
              <a:effectLst/>
            </c:spPr>
          </c:dPt>
          <c:dPt>
            <c:idx val="1"/>
            <c:invertIfNegative val="0"/>
            <c:bubble3D val="0"/>
            <c:spPr>
              <a:solidFill>
                <a:srgbClr val="E99A2C"/>
              </a:solidFill>
              <a:effectLst/>
            </c:spPr>
          </c:dPt>
          <c:cat>
            <c:multiLvlStrRef>
              <c:f>Sheet1!$A$2:$A$3</c:f>
              <c:multiLvlStrCache>
                <c:ptCount val="2"/>
                <c:lvl>
                  <c:pt idx="0">
                    <c:v>Weekday</c:v>
                  </c:pt>
                  <c:pt idx="1">
                    <c:v>Weekend</c:v>
                  </c:pt>
                </c:lvl>
              </c:multiLvlStrCache>
            </c:multiLvlStrRef>
          </c:cat>
          <c:val>
            <c:numRef>
              <c:f>Sheet1!$B$2:$B$3</c:f>
              <c:numCache>
                <c:formatCode>General</c:formatCode>
                <c:ptCount val="2"/>
                <c:pt idx="0">
                  <c:v>136.5</c:v>
                </c:pt>
                <c:pt idx="1">
                  <c:v>138.2</c:v>
                </c:pt>
              </c:numCache>
            </c:numRef>
          </c:val>
        </c:ser>
        <c:dLbls>
          <c:numFmt formatCode="0.0" sourceLinked="0"/>
          <c:txPr>
            <a:bodyPr/>
            <a:lstStyle/>
            <a:p>
              <a:pPr>
                <a:defRPr b="1" i="0" strike="noStrike" sz="1300" u="none">
                  <a:solidFill>
                    <a:srgbClr val="1326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581"/>
                </a:solidFill>
                <a:latin typeface="+mn-lt"/>
              </a:defRPr>
            </a:pPr>
            <a:endParaRPr lang="en-US"/>
          </a:p>
        </c:txPr>
        <c:crossAx val="2094734552"/>
        <c:crosses val="autoZero"/>
        <c:auto val="1"/>
        <c:lblAlgn val="ctr"/>
        <c:noMultiLvlLbl val="1"/>
      </c:catAx>
      <c:valAx>
        <c:axId val="2094734552"/>
        <c:scaling>
          <c:orientation val="minMax"/>
          <c:max val="160"/>
          <c:min val="0"/>
        </c:scaling>
        <c:delete val="0"/>
        <c:axPos val="l"/>
        <c:majorGridlines>
          <c:spPr>
            <a:ln w="9525" cap="flat">
              <a:solidFill>
                <a:srgbClr val="D9E3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58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E"/>
                </a:solidFill>
                <a:latin typeface="+mn-lt"/>
              </a:defRPr>
            </a:pPr>
            <a:r>
              <a:rPr sz="1200" b="0" i="0" u="none" strike="noStrike">
                <a:solidFill>
                  <a:srgbClr val="13262E"/>
                </a:solidFill>
                <a:latin typeface="+mn-lt"/>
              </a:rPr>
              <a:t>Trips by start hour (axis from zero; amber = brief's peak hours)</a:t>
            </a:r>
          </a:p>
        </c:rich>
      </c:tx>
      <c:layout/>
      <c:overlay val="0"/>
    </c:title>
    <c:autoTitleDeleted val="0"/>
    <c:plotArea>
      <c:layout/>
      <c:barChart>
        <c:barDir val="col"/>
        <c:grouping val="clustered"/>
        <c:varyColors val="0"/>
        <c:ser>
          <c:idx val="0"/>
          <c:order val="0"/>
          <c:tx>
            <c:strRef>
              <c:f>Sheet1!$B$1</c:f>
              <c:strCache>
                <c:ptCount val="1"/>
                <c:pt idx="0">
                  <c:v>Trips</c:v>
                </c:pt>
              </c:strCache>
            </c:strRef>
          </c:tx>
          <c:spPr>
            <a:solidFill>
              <a:srgbClr val="0E8A74"/>
            </a:solidFill>
            <a:effectLst/>
          </c:spPr>
          <c:invertIfNegative val="0"/>
          <c:dLbls>
            <c:numFmt formatCode="#,##0" sourceLinked="0"/>
            <c:txPr>
              <a:bodyPr/>
              <a:lstStyle/>
              <a:p>
                <a:pPr>
                  <a:defRPr b="1" i="0" strike="noStrike" sz="1300" u="none">
                    <a:solidFill>
                      <a:srgbClr val="13262E"/>
                    </a:solidFill>
                    <a:latin typeface="+mn-lt"/>
                  </a:defRPr>
                </a:pPr>
              </a:p>
            </c:txPr>
            <c:showLegendKey val="0"/>
            <c:showVal val="0"/>
            <c:showCatName val="0"/>
            <c:showSerName val="0"/>
            <c:showPercent val="0"/>
            <c:showBubbleSize val="0"/>
            <c:showLeaderLines val="0"/>
          </c:dLbls>
          <c:dPt>
            <c:idx val="0"/>
            <c:invertIfNegative val="0"/>
            <c:bubble3D val="0"/>
            <c:spPr>
              <a:solidFill>
                <a:srgbClr val="0E8A74"/>
              </a:solidFill>
              <a:effectLst/>
            </c:spPr>
          </c:dPt>
          <c:dPt>
            <c:idx val="1"/>
            <c:invertIfNegative val="0"/>
            <c:bubble3D val="0"/>
            <c:spPr>
              <a:solidFill>
                <a:srgbClr val="0E8A74"/>
              </a:solidFill>
              <a:effectLst/>
            </c:spPr>
          </c:dPt>
          <c:dPt>
            <c:idx val="2"/>
            <c:invertIfNegative val="0"/>
            <c:bubble3D val="0"/>
            <c:spPr>
              <a:solidFill>
                <a:srgbClr val="0E8A74"/>
              </a:solidFill>
              <a:effectLst/>
            </c:spPr>
          </c:dPt>
          <c:dPt>
            <c:idx val="3"/>
            <c:invertIfNegative val="0"/>
            <c:bubble3D val="0"/>
            <c:spPr>
              <a:solidFill>
                <a:srgbClr val="0E8A74"/>
              </a:solidFill>
              <a:effectLst/>
            </c:spPr>
          </c:dPt>
          <c:dPt>
            <c:idx val="4"/>
            <c:invertIfNegative val="0"/>
            <c:bubble3D val="0"/>
            <c:spPr>
              <a:solidFill>
                <a:srgbClr val="0E8A74"/>
              </a:solidFill>
              <a:effectLst/>
            </c:spPr>
          </c:dPt>
          <c:dPt>
            <c:idx val="5"/>
            <c:invertIfNegative val="0"/>
            <c:bubble3D val="0"/>
            <c:spPr>
              <a:solidFill>
                <a:srgbClr val="0E8A74"/>
              </a:solidFill>
              <a:effectLst/>
            </c:spPr>
          </c:dPt>
          <c:dPt>
            <c:idx val="6"/>
            <c:invertIfNegative val="0"/>
            <c:bubble3D val="0"/>
            <c:spPr>
              <a:solidFill>
                <a:srgbClr val="0E8A74"/>
              </a:solidFill>
              <a:effectLst/>
            </c:spPr>
          </c:dPt>
          <c:dPt>
            <c:idx val="7"/>
            <c:invertIfNegative val="0"/>
            <c:bubble3D val="0"/>
            <c:spPr>
              <a:solidFill>
                <a:srgbClr val="E99A2C"/>
              </a:solidFill>
              <a:effectLst/>
            </c:spPr>
          </c:dPt>
          <c:dPt>
            <c:idx val="8"/>
            <c:invertIfNegative val="0"/>
            <c:bubble3D val="0"/>
            <c:spPr>
              <a:solidFill>
                <a:srgbClr val="E99A2C"/>
              </a:solidFill>
              <a:effectLst/>
            </c:spPr>
          </c:dPt>
          <c:dPt>
            <c:idx val="9"/>
            <c:invertIfNegative val="0"/>
            <c:bubble3D val="0"/>
            <c:spPr>
              <a:solidFill>
                <a:srgbClr val="E99A2C"/>
              </a:solidFill>
              <a:effectLst/>
            </c:spPr>
          </c:dPt>
          <c:dPt>
            <c:idx val="10"/>
            <c:invertIfNegative val="0"/>
            <c:bubble3D val="0"/>
            <c:spPr>
              <a:solidFill>
                <a:srgbClr val="0E8A74"/>
              </a:solidFill>
              <a:effectLst/>
            </c:spPr>
          </c:dPt>
          <c:dPt>
            <c:idx val="11"/>
            <c:invertIfNegative val="0"/>
            <c:bubble3D val="0"/>
            <c:spPr>
              <a:solidFill>
                <a:srgbClr val="0E8A74"/>
              </a:solidFill>
              <a:effectLst/>
            </c:spPr>
          </c:dPt>
          <c:dPt>
            <c:idx val="12"/>
            <c:invertIfNegative val="0"/>
            <c:bubble3D val="0"/>
            <c:spPr>
              <a:solidFill>
                <a:srgbClr val="0E8A74"/>
              </a:solidFill>
              <a:effectLst/>
            </c:spPr>
          </c:dPt>
          <c:dPt>
            <c:idx val="13"/>
            <c:invertIfNegative val="0"/>
            <c:bubble3D val="0"/>
            <c:spPr>
              <a:solidFill>
                <a:srgbClr val="0E8A74"/>
              </a:solidFill>
              <a:effectLst/>
            </c:spPr>
          </c:dPt>
          <c:dPt>
            <c:idx val="14"/>
            <c:invertIfNegative val="0"/>
            <c:bubble3D val="0"/>
            <c:spPr>
              <a:solidFill>
                <a:srgbClr val="0E8A74"/>
              </a:solidFill>
              <a:effectLst/>
            </c:spPr>
          </c:dPt>
          <c:dPt>
            <c:idx val="15"/>
            <c:invertIfNegative val="0"/>
            <c:bubble3D val="0"/>
            <c:spPr>
              <a:solidFill>
                <a:srgbClr val="0E8A74"/>
              </a:solidFill>
              <a:effectLst/>
            </c:spPr>
          </c:dPt>
          <c:dPt>
            <c:idx val="16"/>
            <c:invertIfNegative val="0"/>
            <c:bubble3D val="0"/>
            <c:spPr>
              <a:solidFill>
                <a:srgbClr val="0E8A74"/>
              </a:solidFill>
              <a:effectLst/>
            </c:spPr>
          </c:dPt>
          <c:dPt>
            <c:idx val="17"/>
            <c:invertIfNegative val="0"/>
            <c:bubble3D val="0"/>
            <c:spPr>
              <a:solidFill>
                <a:srgbClr val="E99A2C"/>
              </a:solidFill>
              <a:effectLst/>
            </c:spPr>
          </c:dPt>
          <c:dPt>
            <c:idx val="18"/>
            <c:invertIfNegative val="0"/>
            <c:bubble3D val="0"/>
            <c:spPr>
              <a:solidFill>
                <a:srgbClr val="E99A2C"/>
              </a:solidFill>
              <a:effectLst/>
            </c:spPr>
          </c:dPt>
          <c:dPt>
            <c:idx val="19"/>
            <c:invertIfNegative val="0"/>
            <c:bubble3D val="0"/>
            <c:spPr>
              <a:solidFill>
                <a:srgbClr val="E99A2C"/>
              </a:solidFill>
              <a:effectLst/>
            </c:spPr>
          </c:dPt>
          <c:dPt>
            <c:idx val="20"/>
            <c:invertIfNegative val="0"/>
            <c:bubble3D val="0"/>
            <c:spPr>
              <a:solidFill>
                <a:srgbClr val="0E8A74"/>
              </a:solidFill>
              <a:effectLst/>
            </c:spPr>
          </c:dPt>
          <c:dPt>
            <c:idx val="21"/>
            <c:invertIfNegative val="0"/>
            <c:bubble3D val="0"/>
            <c:spPr>
              <a:solidFill>
                <a:srgbClr val="0E8A74"/>
              </a:solidFill>
              <a:effectLst/>
            </c:spPr>
          </c:dPt>
          <c:dPt>
            <c:idx val="22"/>
            <c:invertIfNegative val="0"/>
            <c:bubble3D val="0"/>
            <c:spPr>
              <a:solidFill>
                <a:srgbClr val="0E8A74"/>
              </a:solidFill>
              <a:effectLst/>
            </c:spPr>
          </c:dPt>
          <c:dPt>
            <c:idx val="23"/>
            <c:invertIfNegative val="0"/>
            <c:bubble3D val="0"/>
            <c:spPr>
              <a:solidFill>
                <a:srgbClr val="0E8A74"/>
              </a:solidFill>
              <a:effectLst/>
            </c:spPr>
          </c:dPt>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2030</c:v>
                </c:pt>
                <c:pt idx="1">
                  <c:v>2099</c:v>
                </c:pt>
                <c:pt idx="2">
                  <c:v>2112</c:v>
                </c:pt>
                <c:pt idx="3">
                  <c:v>2103</c:v>
                </c:pt>
                <c:pt idx="4">
                  <c:v>2084</c:v>
                </c:pt>
                <c:pt idx="5">
                  <c:v>2083</c:v>
                </c:pt>
                <c:pt idx="6">
                  <c:v>2080</c:v>
                </c:pt>
                <c:pt idx="7">
                  <c:v>2074</c:v>
                </c:pt>
                <c:pt idx="8">
                  <c:v>2145</c:v>
                </c:pt>
                <c:pt idx="9">
                  <c:v>2084</c:v>
                </c:pt>
                <c:pt idx="10">
                  <c:v>2117</c:v>
                </c:pt>
                <c:pt idx="11">
                  <c:v>2107</c:v>
                </c:pt>
                <c:pt idx="12">
                  <c:v>2086</c:v>
                </c:pt>
                <c:pt idx="13">
                  <c:v>2061</c:v>
                </c:pt>
                <c:pt idx="14">
                  <c:v>2038</c:v>
                </c:pt>
                <c:pt idx="15">
                  <c:v>2080</c:v>
                </c:pt>
                <c:pt idx="16">
                  <c:v>2087</c:v>
                </c:pt>
                <c:pt idx="17">
                  <c:v>2104</c:v>
                </c:pt>
                <c:pt idx="18">
                  <c:v>2030</c:v>
                </c:pt>
                <c:pt idx="19">
                  <c:v>2050</c:v>
                </c:pt>
                <c:pt idx="20">
                  <c:v>2126</c:v>
                </c:pt>
                <c:pt idx="21">
                  <c:v>2067</c:v>
                </c:pt>
                <c:pt idx="22">
                  <c:v>2074</c:v>
                </c:pt>
                <c:pt idx="23">
                  <c:v>2079</c:v>
                </c:pt>
              </c:numCache>
            </c:numRef>
          </c:val>
        </c:ser>
        <c:dLbls>
          <c:numFmt formatCode="#,##0" sourceLinked="0"/>
          <c:txPr>
            <a:bodyPr/>
            <a:lstStyle/>
            <a:p>
              <a:pPr>
                <a:defRPr b="1" i="0" strike="noStrike" sz="1300" u="none">
                  <a:solidFill>
                    <a:srgbClr val="13262E"/>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581"/>
                </a:solidFill>
                <a:latin typeface="+mn-lt"/>
              </a:defRPr>
            </a:pPr>
            <a:endParaRPr lang="en-US"/>
          </a:p>
        </c:txPr>
        <c:crossAx val="2094734552"/>
        <c:crosses val="autoZero"/>
        <c:auto val="1"/>
        <c:lblAlgn val="ctr"/>
        <c:noMultiLvlLbl val="1"/>
      </c:catAx>
      <c:valAx>
        <c:axId val="2094734552"/>
        <c:scaling>
          <c:orientation val="minMax"/>
          <c:max val="2400"/>
          <c:min val="0"/>
        </c:scaling>
        <c:delete val="0"/>
        <c:axPos val="l"/>
        <c:majorGridlines>
          <c:spPr>
            <a:ln w="9525" cap="flat">
              <a:solidFill>
                <a:srgbClr val="D9E3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581"/>
                </a:solidFill>
                <a:latin typeface="+mn-lt"/>
              </a:defRPr>
            </a:pPr>
            <a:endParaRPr lang="en-US"/>
          </a:p>
        </c:txPr>
        <c:crossAx val="2094734554"/>
        <c:crosses val="autoZero"/>
        <c:crossBetween val="between"/>
        <c:majorUnit val="6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SQL and Power BI case study on a bike-sharing service: 50,000 trips across five US cities in 2023. The short version: the brief expected a weekday commute pattern, but once you look per day and per hour, demand is flat, and the data itself fails several reality checks. I will show what the data can and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First, the weekday-heavy totals are a calendar effect: per day, weekends are slightly busier. Second, the data fails basic physics and logic checks, so it is generated rather than observed. Third, some questions are still answerable: station imbalance, revenue mix and repair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load seven related CSVs into MySQL, check them, explore, analyse and report. The check step is where the story changed: the files are clean on the surface, but they fail reality checks. Everything runs from one script and is re-checked on every push by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totals, weekdays look 2.4 times busier, which is what the brief expected. But there are 2.5 times more weekdays in a year. Divide by days and weekends come out slightly busier: 138 trips against 136. So a weekday commuter strategy is not supported by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bike-share shows sharp morning and evening peaks. Here every hour sits between 2,030 and 2,145 trips, a 5.5% spread. The commute hours in amber are no busier than the rest, 158 of 200 stations peak outside them, and trips are the same length at any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reporting patterns, I tested whether the data could support them. It is clean on the surface, but stations hold more bikes than their capacity, thousands of trips would need car speeds, repairs happen before bikes exist, and weather covers one city per hour. So I report the method and these limits rather than a commute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questions do not depend on realistic trip physics. Net flow per station gives a rebalancing list. The revenue split is clear, and the February dip is mostly a short month. Repairs do not follow usage here, so usage-based servicing cannot be justified from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sits on the MySQL tables with slicers for city, ride type and date. Page one is the overview, page two covers operations and maintenance, page three tracks revenue growth. Next fixes: show weekday versus weekend per day, start the hourly axis at zero, and use US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action is ready now: a rebalancing route for the most imbalanced stations. The rest is about getting data that can answer the original questions: per-day reporting, real sensor and GPS data, and source-level validation so impossible values never reach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repository rebuilds the database and checks these figures on every push, and the interactive case file on my portfolio has the totals-versus-per-day toggle.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rtlCol="0" anchor="ctr"/>
          <a:lstStyle/>
          <a:p>
            <a:pPr indent="0" marL="0">
              <a:buNone/>
            </a:pPr>
            <a:r>
              <a:rPr lang="en-US" sz="1000" dirty="0">
                <a:solidFill>
                  <a:schemeClr val="accent4"/>
                </a:solidFill>
              </a:rPr>
              <a:t>Bike-sharing demand analysis · Parth Dhawan</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parthdhawan921-ops/bike-sharing-demand-analysis" TargetMode="External"/><Relationship Id="rId4" Type="http://schemas.openxmlformats.org/officeDocument/2006/relationships/hyperlink" Target="https://parthdhawan921-ops.github.io/Parth_Personal/#bike" TargetMode="External"/><Relationship Id="rId6" Type="http://schemas.openxmlformats.org/officeDocument/2006/relationships/hyperlink" Target="mailto:parthdhawan921@gmail.com" TargetMode="External"/><Relationship Id="rId1" Type="http://schemas.openxmlformats.org/officeDocument/2006/relationships/image" Target="../media/image-10-1.png"/><Relationship Id="rId3" Type="http://schemas.openxmlformats.org/officeDocument/2006/relationships/image" Target="../media/image-10-2.png"/><Relationship Id="rId5" Type="http://schemas.openxmlformats.org/officeDocument/2006/relationships/image" Target="../media/image-10-3.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800" b="1" dirty="0">
                <a:solidFill>
                  <a:schemeClr val="bg1"/>
                </a:solidFill>
              </a:rPr>
              <a:t>Bike-sharing demand: what 50,000 trips can and cannot tell us</a:t>
            </a: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SQL (MySQL) and Power BI analysis · Parth Dhawan · October 2026</a:t>
            </a:r>
            <a:endParaRPr lang="en-US" sz="1800" dirty="0"/>
          </a:p>
        </p:txBody>
      </p:sp>
      <p:sp>
        <p:nvSpPr>
          <p:cNvPr id="4" name="Bike disc"/>
          <p:cNvSpPr/>
          <p:nvPr/>
        </p:nvSpPr>
        <p:spPr>
          <a:xfrm>
            <a:off x="548640" y="502920"/>
            <a:ext cx="566928" cy="566928"/>
          </a:xfrm>
          <a:prstGeom prst="ellipse">
            <a:avLst/>
          </a:prstGeom>
          <a:solidFill>
            <a:schemeClr val="accent1"/>
          </a:solidFill>
          <a:ln w="12700">
            <a:solidFill>
              <a:schemeClr val="accent1"/>
            </a:solidFill>
            <a:prstDash val="solid"/>
          </a:ln>
        </p:spPr>
      </p:sp>
      <p:pic>
        <p:nvPicPr>
          <p:cNvPr id="5" name="Bike icon" descr="Bike">    </p:cNvPr>
          <p:cNvPicPr>
            <a:picLocks noChangeAspect="1"/>
          </p:cNvPicPr>
          <p:nvPr/>
        </p:nvPicPr>
        <p:blipFill>
          <a:blip r:embed="rId1"/>
          <a:stretch>
            <a:fillRect/>
          </a:stretch>
        </p:blipFill>
        <p:spPr>
          <a:xfrm>
            <a:off x="684703" y="638983"/>
            <a:ext cx="294803" cy="294803"/>
          </a:xfrm>
          <a:prstGeom prst="rect">
            <a:avLst/>
          </a:prstGeom>
        </p:spPr>
      </p:pic>
      <p:sp>
        <p:nvSpPr>
          <p:cNvPr id="6" name="Scope line"/>
          <p:cNvSpPr txBox="1"/>
          <p:nvPr/>
        </p:nvSpPr>
        <p:spPr>
          <a:xfrm>
            <a:off x="548640" y="4343400"/>
            <a:ext cx="7863840" cy="320040"/>
          </a:xfrm>
          <a:prstGeom prst="rect">
            <a:avLst/>
          </a:prstGeom>
          <a:noFill/>
          <a:ln/>
        </p:spPr>
        <p:txBody>
          <a:bodyPr wrap="square" lIns="0" tIns="0" rIns="0" bIns="0" rtlCol="0" anchor="ctr"/>
          <a:lstStyle/>
          <a:p>
            <a:pPr indent="0" marL="0">
              <a:buNone/>
            </a:pPr>
            <a:r>
              <a:rPr lang="en-US" sz="1300" dirty="0">
                <a:solidFill>
                  <a:schemeClr val="accent5"/>
                </a:solidFill>
              </a:rPr>
              <a:t>7 tables  ·  8 SQL scripts  ·  3-page Power BI dashboard  ·  Coding Ninjas case study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Flat demand, and no commute story in this data</a:t>
            </a:r>
            <a:endParaRPr lang="en-US" sz="2600" dirty="0"/>
          </a:p>
        </p:txBody>
      </p:sp>
      <p:sp>
        <p:nvSpPr>
          <p:cNvPr id="3" name="Summary card 1"/>
          <p:cNvSpPr/>
          <p:nvPr/>
        </p:nvSpPr>
        <p:spPr>
          <a:xfrm>
            <a:off x="457200" y="1234440"/>
            <a:ext cx="2615184" cy="3246120"/>
          </a:xfrm>
          <a:prstGeom prst="roundRect">
            <a:avLst>
              <a:gd name="adj" fmla="val 2797"/>
            </a:avLst>
          </a:prstGeom>
          <a:solidFill>
            <a:schemeClr val="bg2"/>
          </a:solidFill>
          <a:ln w="12700">
            <a:solidFill>
              <a:schemeClr val="bg2"/>
            </a:solidFill>
            <a:prstDash val="solid"/>
          </a:ln>
        </p:spPr>
      </p:sp>
      <p:sp>
        <p:nvSpPr>
          <p:cNvPr id="4" name="Summary 1 disc"/>
          <p:cNvSpPr/>
          <p:nvPr/>
        </p:nvSpPr>
        <p:spPr>
          <a:xfrm>
            <a:off x="685800" y="1463040"/>
            <a:ext cx="502920" cy="502920"/>
          </a:xfrm>
          <a:prstGeom prst="ellipse">
            <a:avLst/>
          </a:prstGeom>
          <a:solidFill>
            <a:schemeClr val="accent1"/>
          </a:solidFill>
          <a:ln w="12700">
            <a:solidFill>
              <a:schemeClr val="accent1"/>
            </a:solidFill>
            <a:prstDash val="solid"/>
          </a:ln>
        </p:spPr>
      </p:sp>
      <p:pic>
        <p:nvPicPr>
          <p:cNvPr id="5" name="Summary 1 icon" descr="Summary 1">    </p:cNvPr>
          <p:cNvPicPr>
            <a:picLocks noChangeAspect="1"/>
          </p:cNvPicPr>
          <p:nvPr/>
        </p:nvPicPr>
        <p:blipFill>
          <a:blip r:embed="rId1"/>
          <a:stretch>
            <a:fillRect/>
          </a:stretch>
        </p:blipFill>
        <p:spPr>
          <a:xfrm>
            <a:off x="806501" y="1583741"/>
            <a:ext cx="261518" cy="261518"/>
          </a:xfrm>
          <a:prstGeom prst="rect">
            <a:avLst/>
          </a:prstGeom>
        </p:spPr>
      </p:pic>
      <p:sp>
        <p:nvSpPr>
          <p:cNvPr id="6" name="Summary number 1"/>
          <p:cNvSpPr txBox="1"/>
          <p:nvPr/>
        </p:nvSpPr>
        <p:spPr>
          <a:xfrm>
            <a:off x="685800" y="2103120"/>
            <a:ext cx="2194560" cy="685800"/>
          </a:xfrm>
          <a:prstGeom prst="rect">
            <a:avLst/>
          </a:prstGeom>
          <a:noFill/>
          <a:ln/>
        </p:spPr>
        <p:txBody>
          <a:bodyPr wrap="square" lIns="0" tIns="0" rIns="0" bIns="0" rtlCol="0" anchor="ctr"/>
          <a:lstStyle/>
          <a:p>
            <a:pPr indent="0" marL="0">
              <a:buNone/>
            </a:pPr>
            <a:r>
              <a:rPr lang="en-US" sz="3600" b="1" dirty="0">
                <a:solidFill>
                  <a:schemeClr val="accent1"/>
                </a:solidFill>
              </a:rPr>
              <a:t>138 vs 136</a:t>
            </a:r>
            <a:endParaRPr lang="en-US" sz="3600" dirty="0"/>
          </a:p>
        </p:txBody>
      </p:sp>
      <p:sp>
        <p:nvSpPr>
          <p:cNvPr id="7" name="Summary label 1"/>
          <p:cNvSpPr txBox="1"/>
          <p:nvPr/>
        </p:nvSpPr>
        <p:spPr>
          <a:xfrm>
            <a:off x="685800" y="2788920"/>
            <a:ext cx="2194560" cy="457200"/>
          </a:xfrm>
          <a:prstGeom prst="rect">
            <a:avLst/>
          </a:prstGeom>
          <a:noFill/>
          <a:ln/>
        </p:spPr>
        <p:txBody>
          <a:bodyPr wrap="square" lIns="0" tIns="0" rIns="0" bIns="0" rtlCol="0" anchor="t"/>
          <a:lstStyle/>
          <a:p>
            <a:pPr indent="0" marL="0">
              <a:buNone/>
            </a:pPr>
            <a:r>
              <a:rPr lang="en-US" sz="1400" b="1" dirty="0">
                <a:solidFill>
                  <a:schemeClr val="tx1"/>
                </a:solidFill>
              </a:rPr>
              <a:t>trips a day, weekend vs weekday</a:t>
            </a:r>
            <a:endParaRPr lang="en-US" sz="1400" dirty="0"/>
          </a:p>
        </p:txBody>
      </p:sp>
      <p:sp>
        <p:nvSpPr>
          <p:cNvPr id="8" name="Summary text 1"/>
          <p:cNvSpPr txBox="1"/>
          <p:nvPr/>
        </p:nvSpPr>
        <p:spPr>
          <a:xfrm>
            <a:off x="685800" y="3291840"/>
            <a:ext cx="2194560" cy="1051560"/>
          </a:xfrm>
          <a:prstGeom prst="rect">
            <a:avLst/>
          </a:prstGeom>
          <a:noFill/>
          <a:ln/>
        </p:spPr>
        <p:txBody>
          <a:bodyPr wrap="square" lIns="0" tIns="0" rIns="0" bIns="0" rtlCol="0" anchor="t"/>
          <a:lstStyle/>
          <a:p>
            <a:pPr indent="0" marL="0">
              <a:buNone/>
            </a:pPr>
            <a:r>
              <a:rPr lang="en-US" sz="1300" dirty="0">
                <a:solidFill>
                  <a:schemeClr val="accent4"/>
                </a:solidFill>
              </a:rPr>
              <a:t>Weekends hold 29% of trips only because there are fewer of them. Per day they are busier.</a:t>
            </a:r>
            <a:endParaRPr lang="en-US" sz="1300" dirty="0"/>
          </a:p>
        </p:txBody>
      </p:sp>
      <p:sp>
        <p:nvSpPr>
          <p:cNvPr id="9" name="Summary card 2"/>
          <p:cNvSpPr/>
          <p:nvPr/>
        </p:nvSpPr>
        <p:spPr>
          <a:xfrm>
            <a:off x="3264408" y="1234440"/>
            <a:ext cx="2615184" cy="3246120"/>
          </a:xfrm>
          <a:prstGeom prst="roundRect">
            <a:avLst>
              <a:gd name="adj" fmla="val 2797"/>
            </a:avLst>
          </a:prstGeom>
          <a:solidFill>
            <a:schemeClr val="bg2"/>
          </a:solidFill>
          <a:ln w="12700">
            <a:solidFill>
              <a:schemeClr val="bg2"/>
            </a:solidFill>
            <a:prstDash val="solid"/>
          </a:ln>
        </p:spPr>
      </p:sp>
      <p:sp>
        <p:nvSpPr>
          <p:cNvPr id="10" name="Summary 2 disc"/>
          <p:cNvSpPr/>
          <p:nvPr/>
        </p:nvSpPr>
        <p:spPr>
          <a:xfrm>
            <a:off x="3493008" y="1463040"/>
            <a:ext cx="502920" cy="502920"/>
          </a:xfrm>
          <a:prstGeom prst="ellipse">
            <a:avLst/>
          </a:prstGeom>
          <a:solidFill>
            <a:schemeClr val="accent3"/>
          </a:solidFill>
          <a:ln w="12700">
            <a:solidFill>
              <a:schemeClr val="accent3"/>
            </a:solidFill>
            <a:prstDash val="solid"/>
          </a:ln>
        </p:spPr>
      </p:sp>
      <p:pic>
        <p:nvPicPr>
          <p:cNvPr id="11" name="Summary 2 icon" descr="Summary 2">    </p:cNvPr>
          <p:cNvPicPr>
            <a:picLocks noChangeAspect="1"/>
          </p:cNvPicPr>
          <p:nvPr/>
        </p:nvPicPr>
        <p:blipFill>
          <a:blip r:embed="rId2"/>
          <a:stretch>
            <a:fillRect/>
          </a:stretch>
        </p:blipFill>
        <p:spPr>
          <a:xfrm>
            <a:off x="3613709" y="1583741"/>
            <a:ext cx="261518" cy="261518"/>
          </a:xfrm>
          <a:prstGeom prst="rect">
            <a:avLst/>
          </a:prstGeom>
        </p:spPr>
      </p:pic>
      <p:sp>
        <p:nvSpPr>
          <p:cNvPr id="12" name="Summary number 2"/>
          <p:cNvSpPr txBox="1"/>
          <p:nvPr/>
        </p:nvSpPr>
        <p:spPr>
          <a:xfrm>
            <a:off x="3493008" y="2103120"/>
            <a:ext cx="2194560" cy="685800"/>
          </a:xfrm>
          <a:prstGeom prst="rect">
            <a:avLst/>
          </a:prstGeom>
          <a:noFill/>
          <a:ln/>
        </p:spPr>
        <p:txBody>
          <a:bodyPr wrap="square" lIns="0" tIns="0" rIns="0" bIns="0" rtlCol="0" anchor="ctr"/>
          <a:lstStyle/>
          <a:p>
            <a:pPr indent="0" marL="0">
              <a:buNone/>
            </a:pPr>
            <a:r>
              <a:rPr lang="en-US" sz="3600" b="1" dirty="0">
                <a:solidFill>
                  <a:schemeClr val="accent3"/>
                </a:solidFill>
              </a:rPr>
              <a:t>3,461</a:t>
            </a:r>
            <a:endParaRPr lang="en-US" sz="3600" dirty="0"/>
          </a:p>
        </p:txBody>
      </p:sp>
      <p:sp>
        <p:nvSpPr>
          <p:cNvPr id="13" name="Summary label 2"/>
          <p:cNvSpPr txBox="1"/>
          <p:nvPr/>
        </p:nvSpPr>
        <p:spPr>
          <a:xfrm>
            <a:off x="3493008" y="2788920"/>
            <a:ext cx="2194560" cy="457200"/>
          </a:xfrm>
          <a:prstGeom prst="rect">
            <a:avLst/>
          </a:prstGeom>
          <a:noFill/>
          <a:ln/>
        </p:spPr>
        <p:txBody>
          <a:bodyPr wrap="square" lIns="0" tIns="0" rIns="0" bIns="0" rtlCol="0" anchor="t"/>
          <a:lstStyle/>
          <a:p>
            <a:pPr indent="0" marL="0">
              <a:buNone/>
            </a:pPr>
            <a:r>
              <a:rPr lang="en-US" sz="1400" b="1" dirty="0">
                <a:solidFill>
                  <a:schemeClr val="tx1"/>
                </a:solidFill>
              </a:rPr>
              <a:t>trips imply over 40 km/h on a bike</a:t>
            </a:r>
            <a:endParaRPr lang="en-US" sz="1400" dirty="0"/>
          </a:p>
        </p:txBody>
      </p:sp>
      <p:sp>
        <p:nvSpPr>
          <p:cNvPr id="14" name="Summary text 2"/>
          <p:cNvSpPr txBox="1"/>
          <p:nvPr/>
        </p:nvSpPr>
        <p:spPr>
          <a:xfrm>
            <a:off x="3493008" y="3291840"/>
            <a:ext cx="2194560" cy="1051560"/>
          </a:xfrm>
          <a:prstGeom prst="rect">
            <a:avLst/>
          </a:prstGeom>
          <a:noFill/>
          <a:ln/>
        </p:spPr>
        <p:txBody>
          <a:bodyPr wrap="square" lIns="0" tIns="0" rIns="0" bIns="0" rtlCol="0" anchor="t"/>
          <a:lstStyle/>
          <a:p>
            <a:pPr indent="0" marL="0">
              <a:buNone/>
            </a:pPr>
            <a:r>
              <a:rPr lang="en-US" sz="1300" dirty="0">
                <a:solidFill>
                  <a:schemeClr val="accent4"/>
                </a:solidFill>
              </a:rPr>
              <a:t>With 72 over-capacity stations and 899 repairs dated before purchase, the data looks generated.</a:t>
            </a:r>
            <a:endParaRPr lang="en-US" sz="1300" dirty="0"/>
          </a:p>
        </p:txBody>
      </p:sp>
      <p:sp>
        <p:nvSpPr>
          <p:cNvPr id="15" name="Summary card 3"/>
          <p:cNvSpPr/>
          <p:nvPr/>
        </p:nvSpPr>
        <p:spPr>
          <a:xfrm>
            <a:off x="6071616" y="1234440"/>
            <a:ext cx="2615184" cy="3246120"/>
          </a:xfrm>
          <a:prstGeom prst="roundRect">
            <a:avLst>
              <a:gd name="adj" fmla="val 2797"/>
            </a:avLst>
          </a:prstGeom>
          <a:solidFill>
            <a:schemeClr val="bg2"/>
          </a:solidFill>
          <a:ln w="12700">
            <a:solidFill>
              <a:schemeClr val="bg2"/>
            </a:solidFill>
            <a:prstDash val="solid"/>
          </a:ln>
        </p:spPr>
      </p:sp>
      <p:sp>
        <p:nvSpPr>
          <p:cNvPr id="16" name="Summary 3 disc"/>
          <p:cNvSpPr/>
          <p:nvPr/>
        </p:nvSpPr>
        <p:spPr>
          <a:xfrm>
            <a:off x="6300216" y="1463040"/>
            <a:ext cx="502920" cy="502920"/>
          </a:xfrm>
          <a:prstGeom prst="ellipse">
            <a:avLst/>
          </a:prstGeom>
          <a:solidFill>
            <a:schemeClr val="accent2"/>
          </a:solidFill>
          <a:ln w="12700">
            <a:solidFill>
              <a:schemeClr val="accent2"/>
            </a:solidFill>
            <a:prstDash val="solid"/>
          </a:ln>
        </p:spPr>
      </p:sp>
      <p:pic>
        <p:nvPicPr>
          <p:cNvPr id="17" name="Summary 3 icon" descr="Summary 3">    </p:cNvPr>
          <p:cNvPicPr>
            <a:picLocks noChangeAspect="1"/>
          </p:cNvPicPr>
          <p:nvPr/>
        </p:nvPicPr>
        <p:blipFill>
          <a:blip r:embed="rId3"/>
          <a:stretch>
            <a:fillRect/>
          </a:stretch>
        </p:blipFill>
        <p:spPr>
          <a:xfrm>
            <a:off x="6420917" y="1583741"/>
            <a:ext cx="261518" cy="261518"/>
          </a:xfrm>
          <a:prstGeom prst="rect">
            <a:avLst/>
          </a:prstGeom>
        </p:spPr>
      </p:pic>
      <p:sp>
        <p:nvSpPr>
          <p:cNvPr id="18" name="Summary number 3"/>
          <p:cNvSpPr txBox="1"/>
          <p:nvPr/>
        </p:nvSpPr>
        <p:spPr>
          <a:xfrm>
            <a:off x="6300216" y="2103120"/>
            <a:ext cx="2194560" cy="685800"/>
          </a:xfrm>
          <a:prstGeom prst="rect">
            <a:avLst/>
          </a:prstGeom>
          <a:noFill/>
          <a:ln/>
        </p:spPr>
        <p:txBody>
          <a:bodyPr wrap="square" lIns="0" tIns="0" rIns="0" bIns="0" rtlCol="0" anchor="ctr"/>
          <a:lstStyle/>
          <a:p>
            <a:pPr indent="0" marL="0">
              <a:buNone/>
            </a:pPr>
            <a:r>
              <a:rPr lang="en-US" sz="3600" b="1" dirty="0">
                <a:solidFill>
                  <a:schemeClr val="accent2"/>
                </a:solidFill>
              </a:rPr>
              <a:t>32</a:t>
            </a:r>
            <a:endParaRPr lang="en-US" sz="3600" dirty="0"/>
          </a:p>
        </p:txBody>
      </p:sp>
      <p:sp>
        <p:nvSpPr>
          <p:cNvPr id="19" name="Summary label 3"/>
          <p:cNvSpPr txBox="1"/>
          <p:nvPr/>
        </p:nvSpPr>
        <p:spPr>
          <a:xfrm>
            <a:off x="6300216" y="2788920"/>
            <a:ext cx="2194560" cy="457200"/>
          </a:xfrm>
          <a:prstGeom prst="rect">
            <a:avLst/>
          </a:prstGeom>
          <a:noFill/>
          <a:ln/>
        </p:spPr>
        <p:txBody>
          <a:bodyPr wrap="square" lIns="0" tIns="0" rIns="0" bIns="0" rtlCol="0" anchor="t"/>
          <a:lstStyle/>
          <a:p>
            <a:pPr indent="0" marL="0">
              <a:buNone/>
            </a:pPr>
            <a:r>
              <a:rPr lang="en-US" sz="1400" b="1" dirty="0">
                <a:solidFill>
                  <a:schemeClr val="tx1"/>
                </a:solidFill>
              </a:rPr>
              <a:t>stations gain or lose 40+ bikes</a:t>
            </a:r>
            <a:endParaRPr lang="en-US" sz="1400" dirty="0"/>
          </a:p>
        </p:txBody>
      </p:sp>
      <p:sp>
        <p:nvSpPr>
          <p:cNvPr id="20" name="Summary text 3"/>
          <p:cNvSpPr txBox="1"/>
          <p:nvPr/>
        </p:nvSpPr>
        <p:spPr>
          <a:xfrm>
            <a:off x="6300216" y="3291840"/>
            <a:ext cx="2194560" cy="1051560"/>
          </a:xfrm>
          <a:prstGeom prst="rect">
            <a:avLst/>
          </a:prstGeom>
          <a:noFill/>
          <a:ln/>
        </p:spPr>
        <p:txBody>
          <a:bodyPr wrap="square" lIns="0" tIns="0" rIns="0" bIns="0" rtlCol="0" anchor="t"/>
          <a:lstStyle/>
          <a:p>
            <a:pPr indent="0" marL="0">
              <a:buNone/>
            </a:pPr>
            <a:r>
              <a:rPr lang="en-US" sz="1300" dirty="0">
                <a:solidFill>
                  <a:schemeClr val="accent4"/>
                </a:solidFill>
              </a:rPr>
              <a:t>Station net flow, revenue mix and repair types still give usable answers.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Seven tables, eight SQL scripts, one dashboard</a:t>
            </a:r>
            <a:endParaRPr lang="en-US" sz="2600" dirty="0"/>
          </a:p>
        </p:txBody>
      </p:sp>
      <p:sp>
        <p:nvSpPr>
          <p:cNvPr id="3" name="Step Load disc"/>
          <p:cNvSpPr/>
          <p:nvPr/>
        </p:nvSpPr>
        <p:spPr>
          <a:xfrm>
            <a:off x="914400" y="1325880"/>
            <a:ext cx="566928" cy="566928"/>
          </a:xfrm>
          <a:prstGeom prst="ellipse">
            <a:avLst/>
          </a:prstGeom>
          <a:solidFill>
            <a:schemeClr val="accent1"/>
          </a:solidFill>
          <a:ln w="12700">
            <a:solidFill>
              <a:schemeClr val="accent1"/>
            </a:solidFill>
            <a:prstDash val="solid"/>
          </a:ln>
        </p:spPr>
      </p:sp>
      <p:pic>
        <p:nvPicPr>
          <p:cNvPr id="4" name="Step Load icon" descr="Step Load">    </p:cNvPr>
          <p:cNvPicPr>
            <a:picLocks noChangeAspect="1"/>
          </p:cNvPicPr>
          <p:nvPr/>
        </p:nvPicPr>
        <p:blipFill>
          <a:blip r:embed="rId1"/>
          <a:stretch>
            <a:fillRect/>
          </a:stretch>
        </p:blipFill>
        <p:spPr>
          <a:xfrm>
            <a:off x="1050463" y="1461943"/>
            <a:ext cx="294803" cy="294803"/>
          </a:xfrm>
          <a:prstGeom prst="rect">
            <a:avLst/>
          </a:prstGeom>
        </p:spPr>
      </p:pic>
      <p:sp>
        <p:nvSpPr>
          <p:cNvPr id="5" name="Step arrow 1"/>
          <p:cNvSpPr/>
          <p:nvPr/>
        </p:nvSpPr>
        <p:spPr>
          <a:xfrm>
            <a:off x="1554480" y="1609344"/>
            <a:ext cx="969264" cy="0"/>
          </a:xfrm>
          <a:prstGeom prst="line">
            <a:avLst/>
          </a:prstGeom>
          <a:noFill/>
          <a:ln w="19050">
            <a:solidFill>
              <a:srgbClr val="8DC7B8"/>
            </a:solidFill>
            <a:prstDash val="solid"/>
            <a:tailEnd type="triangle"/>
          </a:ln>
        </p:spPr>
      </p:sp>
      <p:sp>
        <p:nvSpPr>
          <p:cNvPr id="6" name="Step title Load"/>
          <p:cNvSpPr txBox="1"/>
          <p:nvPr/>
        </p:nvSpPr>
        <p:spPr>
          <a:xfrm>
            <a:off x="457200" y="2011680"/>
            <a:ext cx="1481328" cy="365760"/>
          </a:xfrm>
          <a:prstGeom prst="rect">
            <a:avLst/>
          </a:prstGeom>
          <a:noFill/>
          <a:ln/>
        </p:spPr>
        <p:txBody>
          <a:bodyPr wrap="square" lIns="0" tIns="0" rIns="0" bIns="0" rtlCol="0" anchor="ctr"/>
          <a:lstStyle/>
          <a:p>
            <a:pPr algn="ctr" indent="0" marL="0">
              <a:buNone/>
            </a:pPr>
            <a:r>
              <a:rPr lang="en-US" sz="1600" b="1" dirty="0">
                <a:solidFill>
                  <a:schemeClr val="tx1"/>
                </a:solidFill>
              </a:rPr>
              <a:t>1. Load</a:t>
            </a:r>
            <a:endParaRPr lang="en-US" sz="1600" dirty="0"/>
          </a:p>
        </p:txBody>
      </p:sp>
      <p:sp>
        <p:nvSpPr>
          <p:cNvPr id="7" name="Step text Load"/>
          <p:cNvSpPr txBox="1"/>
          <p:nvPr/>
        </p:nvSpPr>
        <p:spPr>
          <a:xfrm>
            <a:off x="457200"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7 CSVs into MySQL with one build script</a:t>
            </a:r>
            <a:endParaRPr lang="en-US" sz="1200" dirty="0"/>
          </a:p>
        </p:txBody>
      </p:sp>
      <p:sp>
        <p:nvSpPr>
          <p:cNvPr id="8" name="Step Check disc"/>
          <p:cNvSpPr/>
          <p:nvPr/>
        </p:nvSpPr>
        <p:spPr>
          <a:xfrm>
            <a:off x="2596896" y="1325880"/>
            <a:ext cx="566928" cy="566928"/>
          </a:xfrm>
          <a:prstGeom prst="ellipse">
            <a:avLst/>
          </a:prstGeom>
          <a:solidFill>
            <a:schemeClr val="accent2"/>
          </a:solidFill>
          <a:ln w="12700">
            <a:solidFill>
              <a:schemeClr val="accent2"/>
            </a:solidFill>
            <a:prstDash val="solid"/>
          </a:ln>
        </p:spPr>
      </p:sp>
      <p:pic>
        <p:nvPicPr>
          <p:cNvPr id="9" name="Step Check icon" descr="Step Check">    </p:cNvPr>
          <p:cNvPicPr>
            <a:picLocks noChangeAspect="1"/>
          </p:cNvPicPr>
          <p:nvPr/>
        </p:nvPicPr>
        <p:blipFill>
          <a:blip r:embed="rId2"/>
          <a:stretch>
            <a:fillRect/>
          </a:stretch>
        </p:blipFill>
        <p:spPr>
          <a:xfrm>
            <a:off x="2732959" y="1461943"/>
            <a:ext cx="294803" cy="294803"/>
          </a:xfrm>
          <a:prstGeom prst="rect">
            <a:avLst/>
          </a:prstGeom>
        </p:spPr>
      </p:pic>
      <p:sp>
        <p:nvSpPr>
          <p:cNvPr id="10" name="Step arrow 2"/>
          <p:cNvSpPr/>
          <p:nvPr/>
        </p:nvSpPr>
        <p:spPr>
          <a:xfrm>
            <a:off x="3236976" y="1609344"/>
            <a:ext cx="969264" cy="0"/>
          </a:xfrm>
          <a:prstGeom prst="line">
            <a:avLst/>
          </a:prstGeom>
          <a:noFill/>
          <a:ln w="19050">
            <a:solidFill>
              <a:srgbClr val="8DC7B8"/>
            </a:solidFill>
            <a:prstDash val="solid"/>
            <a:tailEnd type="triangle"/>
          </a:ln>
        </p:spPr>
      </p:sp>
      <p:sp>
        <p:nvSpPr>
          <p:cNvPr id="11" name="Step title Check"/>
          <p:cNvSpPr txBox="1"/>
          <p:nvPr/>
        </p:nvSpPr>
        <p:spPr>
          <a:xfrm>
            <a:off x="2139696" y="2011680"/>
            <a:ext cx="1481328" cy="365760"/>
          </a:xfrm>
          <a:prstGeom prst="rect">
            <a:avLst/>
          </a:prstGeom>
          <a:noFill/>
          <a:ln/>
        </p:spPr>
        <p:txBody>
          <a:bodyPr wrap="square" lIns="0" tIns="0" rIns="0" bIns="0" rtlCol="0" anchor="ctr"/>
          <a:lstStyle/>
          <a:p>
            <a:pPr algn="ctr" indent="0" marL="0">
              <a:buNone/>
            </a:pPr>
            <a:r>
              <a:rPr lang="en-US" sz="1600" b="1" dirty="0">
                <a:solidFill>
                  <a:schemeClr val="tx1"/>
                </a:solidFill>
              </a:rPr>
              <a:t>2. Check</a:t>
            </a:r>
            <a:endParaRPr lang="en-US" sz="1600" dirty="0"/>
          </a:p>
        </p:txBody>
      </p:sp>
      <p:sp>
        <p:nvSpPr>
          <p:cNvPr id="12" name="Step text Check"/>
          <p:cNvSpPr txBox="1"/>
          <p:nvPr/>
        </p:nvSpPr>
        <p:spPr>
          <a:xfrm>
            <a:off x="2139696"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Nulls, duplicates, durations + 7 reality checks</a:t>
            </a:r>
            <a:endParaRPr lang="en-US" sz="1200" dirty="0"/>
          </a:p>
        </p:txBody>
      </p:sp>
      <p:sp>
        <p:nvSpPr>
          <p:cNvPr id="13" name="Step Explore disc"/>
          <p:cNvSpPr/>
          <p:nvPr/>
        </p:nvSpPr>
        <p:spPr>
          <a:xfrm>
            <a:off x="4279392" y="1325880"/>
            <a:ext cx="566928" cy="566928"/>
          </a:xfrm>
          <a:prstGeom prst="ellipse">
            <a:avLst/>
          </a:prstGeom>
          <a:solidFill>
            <a:schemeClr val="accent1"/>
          </a:solidFill>
          <a:ln w="12700">
            <a:solidFill>
              <a:schemeClr val="accent1"/>
            </a:solidFill>
            <a:prstDash val="solid"/>
          </a:ln>
        </p:spPr>
      </p:sp>
      <p:pic>
        <p:nvPicPr>
          <p:cNvPr id="14" name="Step Explore icon" descr="Step Explore">    </p:cNvPr>
          <p:cNvPicPr>
            <a:picLocks noChangeAspect="1"/>
          </p:cNvPicPr>
          <p:nvPr/>
        </p:nvPicPr>
        <p:blipFill>
          <a:blip r:embed="rId3"/>
          <a:stretch>
            <a:fillRect/>
          </a:stretch>
        </p:blipFill>
        <p:spPr>
          <a:xfrm>
            <a:off x="4415455" y="1461943"/>
            <a:ext cx="294803" cy="294803"/>
          </a:xfrm>
          <a:prstGeom prst="rect">
            <a:avLst/>
          </a:prstGeom>
        </p:spPr>
      </p:pic>
      <p:sp>
        <p:nvSpPr>
          <p:cNvPr id="15" name="Step arrow 3"/>
          <p:cNvSpPr/>
          <p:nvPr/>
        </p:nvSpPr>
        <p:spPr>
          <a:xfrm>
            <a:off x="4919472" y="1609344"/>
            <a:ext cx="969264" cy="0"/>
          </a:xfrm>
          <a:prstGeom prst="line">
            <a:avLst/>
          </a:prstGeom>
          <a:noFill/>
          <a:ln w="19050">
            <a:solidFill>
              <a:srgbClr val="8DC7B8"/>
            </a:solidFill>
            <a:prstDash val="solid"/>
            <a:tailEnd type="triangle"/>
          </a:ln>
        </p:spPr>
      </p:sp>
      <p:sp>
        <p:nvSpPr>
          <p:cNvPr id="16" name="Step title Explore"/>
          <p:cNvSpPr txBox="1"/>
          <p:nvPr/>
        </p:nvSpPr>
        <p:spPr>
          <a:xfrm>
            <a:off x="3822192" y="2011680"/>
            <a:ext cx="1481328" cy="365760"/>
          </a:xfrm>
          <a:prstGeom prst="rect">
            <a:avLst/>
          </a:prstGeom>
          <a:noFill/>
          <a:ln/>
        </p:spPr>
        <p:txBody>
          <a:bodyPr wrap="square" lIns="0" tIns="0" rIns="0" bIns="0" rtlCol="0" anchor="ctr"/>
          <a:lstStyle/>
          <a:p>
            <a:pPr algn="ctr" indent="0" marL="0">
              <a:buNone/>
            </a:pPr>
            <a:r>
              <a:rPr lang="en-US" sz="1600" b="1" dirty="0">
                <a:solidFill>
                  <a:schemeClr val="tx1"/>
                </a:solidFill>
              </a:rPr>
              <a:t>3. Explore</a:t>
            </a:r>
            <a:endParaRPr lang="en-US" sz="1600" dirty="0"/>
          </a:p>
        </p:txBody>
      </p:sp>
      <p:sp>
        <p:nvSpPr>
          <p:cNvPr id="17" name="Step text Explore"/>
          <p:cNvSpPr txBox="1"/>
          <p:nvPr/>
        </p:nvSpPr>
        <p:spPr>
          <a:xfrm>
            <a:off x="3822192"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Dimensions, date ranges and measures</a:t>
            </a:r>
            <a:endParaRPr lang="en-US" sz="1200" dirty="0"/>
          </a:p>
        </p:txBody>
      </p:sp>
      <p:sp>
        <p:nvSpPr>
          <p:cNvPr id="18" name="Step Analyse disc"/>
          <p:cNvSpPr/>
          <p:nvPr/>
        </p:nvSpPr>
        <p:spPr>
          <a:xfrm>
            <a:off x="5961888" y="1325880"/>
            <a:ext cx="566928" cy="566928"/>
          </a:xfrm>
          <a:prstGeom prst="ellipse">
            <a:avLst/>
          </a:prstGeom>
          <a:solidFill>
            <a:schemeClr val="accent1"/>
          </a:solidFill>
          <a:ln w="12700">
            <a:solidFill>
              <a:schemeClr val="accent1"/>
            </a:solidFill>
            <a:prstDash val="solid"/>
          </a:ln>
        </p:spPr>
      </p:sp>
      <p:pic>
        <p:nvPicPr>
          <p:cNvPr id="19" name="Step Analyse icon" descr="Step Analyse">    </p:cNvPr>
          <p:cNvPicPr>
            <a:picLocks noChangeAspect="1"/>
          </p:cNvPicPr>
          <p:nvPr/>
        </p:nvPicPr>
        <p:blipFill>
          <a:blip r:embed="rId4"/>
          <a:stretch>
            <a:fillRect/>
          </a:stretch>
        </p:blipFill>
        <p:spPr>
          <a:xfrm>
            <a:off x="6097951" y="1461943"/>
            <a:ext cx="294803" cy="294803"/>
          </a:xfrm>
          <a:prstGeom prst="rect">
            <a:avLst/>
          </a:prstGeom>
        </p:spPr>
      </p:pic>
      <p:sp>
        <p:nvSpPr>
          <p:cNvPr id="20" name="Step arrow 4"/>
          <p:cNvSpPr/>
          <p:nvPr/>
        </p:nvSpPr>
        <p:spPr>
          <a:xfrm>
            <a:off x="6601968" y="1609344"/>
            <a:ext cx="969264" cy="0"/>
          </a:xfrm>
          <a:prstGeom prst="line">
            <a:avLst/>
          </a:prstGeom>
          <a:noFill/>
          <a:ln w="19050">
            <a:solidFill>
              <a:srgbClr val="8DC7B8"/>
            </a:solidFill>
            <a:prstDash val="solid"/>
            <a:tailEnd type="triangle"/>
          </a:ln>
        </p:spPr>
      </p:sp>
      <p:sp>
        <p:nvSpPr>
          <p:cNvPr id="21" name="Step title Analyse"/>
          <p:cNvSpPr txBox="1"/>
          <p:nvPr/>
        </p:nvSpPr>
        <p:spPr>
          <a:xfrm>
            <a:off x="5504688" y="2011680"/>
            <a:ext cx="1481328" cy="365760"/>
          </a:xfrm>
          <a:prstGeom prst="rect">
            <a:avLst/>
          </a:prstGeom>
          <a:noFill/>
          <a:ln/>
        </p:spPr>
        <p:txBody>
          <a:bodyPr wrap="square" lIns="0" tIns="0" rIns="0" bIns="0" rtlCol="0" anchor="ctr"/>
          <a:lstStyle/>
          <a:p>
            <a:pPr algn="ctr" indent="0" marL="0">
              <a:buNone/>
            </a:pPr>
            <a:r>
              <a:rPr lang="en-US" sz="1600" b="1" dirty="0">
                <a:solidFill>
                  <a:schemeClr val="tx1"/>
                </a:solidFill>
              </a:rPr>
              <a:t>4. Analyse</a:t>
            </a:r>
            <a:endParaRPr lang="en-US" sz="1600" dirty="0"/>
          </a:p>
        </p:txBody>
      </p:sp>
      <p:sp>
        <p:nvSpPr>
          <p:cNvPr id="22" name="Step text Analyse"/>
          <p:cNvSpPr txBox="1"/>
          <p:nvPr/>
        </p:nvSpPr>
        <p:spPr>
          <a:xfrm>
            <a:off x="5504688"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Demand, segments, maintenance, revenue</a:t>
            </a:r>
            <a:endParaRPr lang="en-US" sz="1200" dirty="0"/>
          </a:p>
        </p:txBody>
      </p:sp>
      <p:sp>
        <p:nvSpPr>
          <p:cNvPr id="23" name="Step Report disc"/>
          <p:cNvSpPr/>
          <p:nvPr/>
        </p:nvSpPr>
        <p:spPr>
          <a:xfrm>
            <a:off x="7644384" y="1325880"/>
            <a:ext cx="566928" cy="566928"/>
          </a:xfrm>
          <a:prstGeom prst="ellipse">
            <a:avLst/>
          </a:prstGeom>
          <a:solidFill>
            <a:schemeClr val="accent1"/>
          </a:solidFill>
          <a:ln w="12700">
            <a:solidFill>
              <a:schemeClr val="accent1"/>
            </a:solidFill>
            <a:prstDash val="solid"/>
          </a:ln>
        </p:spPr>
      </p:sp>
      <p:pic>
        <p:nvPicPr>
          <p:cNvPr id="24" name="Step Report icon" descr="Step Report">    </p:cNvPr>
          <p:cNvPicPr>
            <a:picLocks noChangeAspect="1"/>
          </p:cNvPicPr>
          <p:nvPr/>
        </p:nvPicPr>
        <p:blipFill>
          <a:blip r:embed="rId5"/>
          <a:stretch>
            <a:fillRect/>
          </a:stretch>
        </p:blipFill>
        <p:spPr>
          <a:xfrm>
            <a:off x="7780447" y="1461943"/>
            <a:ext cx="294803" cy="294803"/>
          </a:xfrm>
          <a:prstGeom prst="rect">
            <a:avLst/>
          </a:prstGeom>
        </p:spPr>
      </p:pic>
      <p:sp>
        <p:nvSpPr>
          <p:cNvPr id="25" name="Step title Report"/>
          <p:cNvSpPr txBox="1"/>
          <p:nvPr/>
        </p:nvSpPr>
        <p:spPr>
          <a:xfrm>
            <a:off x="7187184" y="2011680"/>
            <a:ext cx="1481328" cy="365760"/>
          </a:xfrm>
          <a:prstGeom prst="rect">
            <a:avLst/>
          </a:prstGeom>
          <a:noFill/>
          <a:ln/>
        </p:spPr>
        <p:txBody>
          <a:bodyPr wrap="square" lIns="0" tIns="0" rIns="0" bIns="0" rtlCol="0" anchor="ctr"/>
          <a:lstStyle/>
          <a:p>
            <a:pPr algn="ctr" indent="0" marL="0">
              <a:buNone/>
            </a:pPr>
            <a:r>
              <a:rPr lang="en-US" sz="1600" b="1" dirty="0">
                <a:solidFill>
                  <a:schemeClr val="tx1"/>
                </a:solidFill>
              </a:rPr>
              <a:t>5. Report</a:t>
            </a:r>
            <a:endParaRPr lang="en-US" sz="1600" dirty="0"/>
          </a:p>
        </p:txBody>
      </p:sp>
      <p:sp>
        <p:nvSpPr>
          <p:cNvPr id="26" name="Step text Report"/>
          <p:cNvSpPr txBox="1"/>
          <p:nvPr/>
        </p:nvSpPr>
        <p:spPr>
          <a:xfrm>
            <a:off x="7187184"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3-page Power BI dashboard</a:t>
            </a:r>
            <a:endParaRPr lang="en-US" sz="1200" dirty="0"/>
          </a:p>
        </p:txBody>
      </p:sp>
      <p:sp>
        <p:nvSpPr>
          <p:cNvPr id="27" name="Data card"/>
          <p:cNvSpPr/>
          <p:nvPr/>
        </p:nvSpPr>
        <p:spPr>
          <a:xfrm>
            <a:off x="457200" y="3383280"/>
            <a:ext cx="8229600" cy="1143000"/>
          </a:xfrm>
          <a:prstGeom prst="roundRect">
            <a:avLst>
              <a:gd name="adj" fmla="val 6400"/>
            </a:avLst>
          </a:prstGeom>
          <a:solidFill>
            <a:schemeClr val="bg2"/>
          </a:solidFill>
          <a:ln w="12700">
            <a:solidFill>
              <a:schemeClr val="bg2"/>
            </a:solidFill>
            <a:prstDash val="solid"/>
          </a:ln>
        </p:spPr>
      </p:sp>
      <p:sp>
        <p:nvSpPr>
          <p:cNvPr id="28" name="Data text"/>
          <p:cNvSpPr txBox="1"/>
          <p:nvPr/>
        </p:nvSpPr>
        <p:spPr>
          <a:xfrm>
            <a:off x="685800" y="3493008"/>
            <a:ext cx="7772400" cy="914400"/>
          </a:xfrm>
          <a:prstGeom prst="rect">
            <a:avLst/>
          </a:prstGeom>
          <a:noFill/>
          <a:ln/>
        </p:spPr>
        <p:txBody>
          <a:bodyPr wrap="square" lIns="0" tIns="0" rIns="0" bIns="0" rtlCol="0" anchor="ctr"/>
          <a:lstStyle/>
          <a:p>
            <a:pPr indent="0" marL="0">
              <a:spcAft>
                <a:spcPts val="400"/>
              </a:spcAft>
              <a:buNone/>
            </a:pPr>
            <a:r>
              <a:rPr lang="en-US" sz="1300" b="1" dirty="0">
                <a:solidFill>
                  <a:schemeClr val="tx1"/>
                </a:solidFill>
              </a:rPr>
              <a:t>The data: </a:t>
            </a:r>
            <a:pPr indent="0" marL="0">
              <a:spcAft>
                <a:spcPts val="400"/>
              </a:spcAft>
              <a:buNone/>
            </a:pPr>
            <a:r>
              <a:rPr lang="en-US" sz="1300" dirty="0">
                <a:solidFill>
                  <a:schemeClr val="tx1"/>
                </a:solidFill>
              </a:rPr>
              <a:t>50,000 trips · 5,000 riders · 200 stations · 1,000 bikes · 9,998 repairs · 5 US cities · all of 2023.</a:t>
            </a:r>
            <a:endParaRPr lang="en-US" sz="1300" dirty="0"/>
          </a:p>
          <a:p>
            <a:pPr indent="0" marL="0">
              <a:spcAft>
                <a:spcPts val="400"/>
              </a:spcAft>
              <a:buNone/>
            </a:pPr>
            <a:r>
              <a:rPr lang="en-US" sz="1300" dirty="0">
                <a:solidFill>
                  <a:schemeClr val="accent4"/>
                </a:solidFill>
              </a:rPr>
              <a:t>Business question from the brief: where and when to position bikes, how to balance stations, and where maintenance is needed.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Weekends look quieter, but per day they are busier</a:t>
            </a:r>
            <a:endParaRPr lang="en-US" sz="2600" dirty="0"/>
          </a:p>
        </p:txBody>
      </p:sp>
      <p:graphicFrame>
        <p:nvGraphicFramePr>
          <p:cNvPr id="3" name="Total trips chart" descr=""/>
          <p:cNvGraphicFramePr/>
          <p:nvPr/>
        </p:nvGraphicFramePr>
        <p:xfrm>
          <a:off x="457200" y="1143000"/>
          <a:ext cx="397764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rips per day chart" descr=""/>
          <p:cNvGraphicFramePr/>
          <p:nvPr/>
        </p:nvGraphicFramePr>
        <p:xfrm>
          <a:off x="4709160" y="1143000"/>
          <a:ext cx="3977640" cy="2743200"/>
        </p:xfrm>
        <a:graphic xmlns:a="http://schemas.openxmlformats.org/drawingml/2006/main">
          <a:graphicData uri="http://schemas.openxmlformats.org/drawingml/2006/chart">
            <c:chart xmlns:c="http://schemas.openxmlformats.org/drawingml/2006/chart" r:id="rId2"/>
          </a:graphicData>
        </a:graphic>
      </p:graphicFrame>
      <p:sp>
        <p:nvSpPr>
          <p:cNvPr id="5" name="Calendar note"/>
          <p:cNvSpPr/>
          <p:nvPr/>
        </p:nvSpPr>
        <p:spPr>
          <a:xfrm>
            <a:off x="457200" y="4023360"/>
            <a:ext cx="8229600" cy="548640"/>
          </a:xfrm>
          <a:prstGeom prst="roundRect">
            <a:avLst>
              <a:gd name="adj" fmla="val 13333"/>
            </a:avLst>
          </a:prstGeom>
          <a:solidFill>
            <a:schemeClr val="bg2"/>
          </a:solidFill>
          <a:ln w="12700">
            <a:solidFill>
              <a:schemeClr val="bg2"/>
            </a:solidFill>
            <a:prstDash val="solid"/>
          </a:ln>
        </p:spPr>
      </p:sp>
      <p:sp>
        <p:nvSpPr>
          <p:cNvPr id="6" name="Calendar text"/>
          <p:cNvSpPr txBox="1"/>
          <p:nvPr/>
        </p:nvSpPr>
        <p:spPr>
          <a:xfrm>
            <a:off x="685800" y="4069080"/>
            <a:ext cx="7772400" cy="457200"/>
          </a:xfrm>
          <a:prstGeom prst="rect">
            <a:avLst/>
          </a:prstGeom>
          <a:noFill/>
          <a:ln/>
        </p:spPr>
        <p:txBody>
          <a:bodyPr wrap="square" lIns="0" tIns="0" rIns="0" bIns="0" rtlCol="0" anchor="ctr"/>
          <a:lstStyle/>
          <a:p>
            <a:pPr indent="0" marL="0">
              <a:buNone/>
            </a:pPr>
            <a:r>
              <a:rPr lang="en-US" sz="1400" b="1" dirty="0">
                <a:solidFill>
                  <a:schemeClr val="tx1"/>
                </a:solidFill>
              </a:rPr>
              <a:t>2023 has 260 weekdays and 105 weekend days. </a:t>
            </a:r>
            <a:pPr indent="0" marL="0">
              <a:buNone/>
            </a:pPr>
            <a:r>
              <a:rPr lang="en-US" sz="1400" dirty="0">
                <a:solidFill>
                  <a:schemeClr val="accent4"/>
                </a:solidFill>
              </a:rPr>
              <a:t>The 2.4× gap in totals is the calendar, not commuters.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No rush hour: trips barely change across the day</a:t>
            </a:r>
            <a:endParaRPr lang="en-US" sz="2600" dirty="0"/>
          </a:p>
        </p:txBody>
      </p:sp>
      <p:graphicFrame>
        <p:nvGraphicFramePr>
          <p:cNvPr id="3" name="Trips by hour chart" descr=""/>
          <p:cNvGraphicFramePr/>
          <p:nvPr/>
        </p:nvGraphicFramePr>
        <p:xfrm>
          <a:off x="365760" y="1097280"/>
          <a:ext cx="5760720" cy="3429000"/>
        </p:xfrm>
        <a:graphic xmlns:a="http://schemas.openxmlformats.org/drawingml/2006/main">
          <a:graphicData uri="http://schemas.openxmlformats.org/drawingml/2006/chart">
            <c:chart xmlns:c="http://schemas.openxmlformats.org/drawingml/2006/chart" r:id="rId1"/>
          </a:graphicData>
        </a:graphic>
      </p:graphicFrame>
      <p:sp>
        <p:nvSpPr>
          <p:cNvPr id="4" name="Spread number"/>
          <p:cNvSpPr txBox="1"/>
          <p:nvPr/>
        </p:nvSpPr>
        <p:spPr>
          <a:xfrm>
            <a:off x="6400800" y="1188720"/>
            <a:ext cx="2286000" cy="548640"/>
          </a:xfrm>
          <a:prstGeom prst="rect">
            <a:avLst/>
          </a:prstGeom>
          <a:noFill/>
          <a:ln/>
        </p:spPr>
        <p:txBody>
          <a:bodyPr wrap="square" lIns="0" tIns="0" rIns="0" bIns="0" rtlCol="0" anchor="ctr"/>
          <a:lstStyle/>
          <a:p>
            <a:pPr indent="0" marL="0">
              <a:buNone/>
            </a:pPr>
            <a:r>
              <a:rPr lang="en-US" sz="3200" b="1" dirty="0">
                <a:solidFill>
                  <a:schemeClr val="accent1"/>
                </a:solidFill>
              </a:rPr>
              <a:t>5.5%</a:t>
            </a:r>
            <a:endParaRPr lang="en-US" sz="3200" dirty="0"/>
          </a:p>
        </p:txBody>
      </p:sp>
      <p:sp>
        <p:nvSpPr>
          <p:cNvPr id="5" name="Spread label"/>
          <p:cNvSpPr txBox="1"/>
          <p:nvPr/>
        </p:nvSpPr>
        <p:spPr>
          <a:xfrm>
            <a:off x="6400800" y="1737360"/>
            <a:ext cx="2286000" cy="566928"/>
          </a:xfrm>
          <a:prstGeom prst="rect">
            <a:avLst/>
          </a:prstGeom>
          <a:noFill/>
          <a:ln/>
        </p:spPr>
        <p:txBody>
          <a:bodyPr wrap="square" lIns="0" tIns="0" rIns="0" bIns="0" rtlCol="0" anchor="t"/>
          <a:lstStyle/>
          <a:p>
            <a:pPr indent="0" marL="0">
              <a:buNone/>
            </a:pPr>
            <a:r>
              <a:rPr lang="en-US" sz="1300" dirty="0">
                <a:solidFill>
                  <a:schemeClr val="accent4"/>
                </a:solidFill>
              </a:rPr>
              <a:t>gap between the busiest hour (8 AM) and the quietest</a:t>
            </a:r>
            <a:endParaRPr lang="en-US" sz="1300" dirty="0"/>
          </a:p>
        </p:txBody>
      </p:sp>
      <p:sp>
        <p:nvSpPr>
          <p:cNvPr id="6" name="Station peaks number"/>
          <p:cNvSpPr txBox="1"/>
          <p:nvPr/>
        </p:nvSpPr>
        <p:spPr>
          <a:xfrm>
            <a:off x="6400800" y="2331720"/>
            <a:ext cx="2286000" cy="548640"/>
          </a:xfrm>
          <a:prstGeom prst="rect">
            <a:avLst/>
          </a:prstGeom>
          <a:noFill/>
          <a:ln/>
        </p:spPr>
        <p:txBody>
          <a:bodyPr wrap="square" lIns="0" tIns="0" rIns="0" bIns="0" rtlCol="0" anchor="ctr"/>
          <a:lstStyle/>
          <a:p>
            <a:pPr indent="0" marL="0">
              <a:buNone/>
            </a:pPr>
            <a:r>
              <a:rPr lang="en-US" sz="3200" b="1" dirty="0">
                <a:solidFill>
                  <a:schemeClr val="accent2"/>
                </a:solidFill>
              </a:rPr>
              <a:t>158 / 200</a:t>
            </a:r>
            <a:endParaRPr lang="en-US" sz="3200" dirty="0"/>
          </a:p>
        </p:txBody>
      </p:sp>
      <p:sp>
        <p:nvSpPr>
          <p:cNvPr id="7" name="Station peaks label"/>
          <p:cNvSpPr txBox="1"/>
          <p:nvPr/>
        </p:nvSpPr>
        <p:spPr>
          <a:xfrm>
            <a:off x="6400800" y="2880360"/>
            <a:ext cx="2286000" cy="566928"/>
          </a:xfrm>
          <a:prstGeom prst="rect">
            <a:avLst/>
          </a:prstGeom>
          <a:noFill/>
          <a:ln/>
        </p:spPr>
        <p:txBody>
          <a:bodyPr wrap="square" lIns="0" tIns="0" rIns="0" bIns="0" rtlCol="0" anchor="t"/>
          <a:lstStyle/>
          <a:p>
            <a:pPr indent="0" marL="0">
              <a:buNone/>
            </a:pPr>
            <a:r>
              <a:rPr lang="en-US" sz="1300" dirty="0">
                <a:solidFill>
                  <a:schemeClr val="accent4"/>
                </a:solidFill>
              </a:rPr>
              <a:t>stations peak outside commute hours (75% by chance)</a:t>
            </a:r>
            <a:endParaRPr lang="en-US" sz="1300" dirty="0"/>
          </a:p>
        </p:txBody>
      </p:sp>
      <p:sp>
        <p:nvSpPr>
          <p:cNvPr id="8" name="Duration number"/>
          <p:cNvSpPr txBox="1"/>
          <p:nvPr/>
        </p:nvSpPr>
        <p:spPr>
          <a:xfrm>
            <a:off x="6400800" y="3474720"/>
            <a:ext cx="2286000" cy="548640"/>
          </a:xfrm>
          <a:prstGeom prst="rect">
            <a:avLst/>
          </a:prstGeom>
          <a:noFill/>
          <a:ln/>
        </p:spPr>
        <p:txBody>
          <a:bodyPr wrap="square" lIns="0" tIns="0" rIns="0" bIns="0" rtlCol="0" anchor="ctr"/>
          <a:lstStyle/>
          <a:p>
            <a:pPr indent="0" marL="0">
              <a:buNone/>
            </a:pPr>
            <a:r>
              <a:rPr lang="en-US" sz="3200" b="1" dirty="0">
                <a:solidFill>
                  <a:schemeClr val="tx1"/>
                </a:solidFill>
              </a:rPr>
              <a:t>32.2 vs 31.9</a:t>
            </a:r>
            <a:endParaRPr lang="en-US" sz="3200" dirty="0"/>
          </a:p>
        </p:txBody>
      </p:sp>
      <p:sp>
        <p:nvSpPr>
          <p:cNvPr id="9" name="Duration label"/>
          <p:cNvSpPr txBox="1"/>
          <p:nvPr/>
        </p:nvSpPr>
        <p:spPr>
          <a:xfrm>
            <a:off x="6400800" y="4023360"/>
            <a:ext cx="2286000" cy="566928"/>
          </a:xfrm>
          <a:prstGeom prst="rect">
            <a:avLst/>
          </a:prstGeom>
          <a:noFill/>
          <a:ln/>
        </p:spPr>
        <p:txBody>
          <a:bodyPr wrap="square" lIns="0" tIns="0" rIns="0" bIns="0" rtlCol="0" anchor="t"/>
          <a:lstStyle/>
          <a:p>
            <a:pPr indent="0" marL="0">
              <a:buNone/>
            </a:pPr>
            <a:r>
              <a:rPr lang="en-US" sz="1300" dirty="0">
                <a:solidFill>
                  <a:schemeClr val="accent4"/>
                </a:solidFill>
              </a:rPr>
              <a:t>minutes per trip, peak vs off-peak</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Four checks show the data is generated, not observed</a:t>
            </a:r>
            <a:endParaRPr lang="en-US" sz="2600" dirty="0"/>
          </a:p>
        </p:txBody>
      </p:sp>
      <p:sp>
        <p:nvSpPr>
          <p:cNvPr id="3" name="Check card 1"/>
          <p:cNvSpPr/>
          <p:nvPr/>
        </p:nvSpPr>
        <p:spPr>
          <a:xfrm>
            <a:off x="457200" y="1143000"/>
            <a:ext cx="4023360" cy="1371600"/>
          </a:xfrm>
          <a:prstGeom prst="roundRect">
            <a:avLst>
              <a:gd name="adj" fmla="val 5333"/>
            </a:avLst>
          </a:prstGeom>
          <a:solidFill>
            <a:schemeClr val="bg2"/>
          </a:solidFill>
          <a:ln w="12700">
            <a:solidFill>
              <a:schemeClr val="bg2"/>
            </a:solidFill>
            <a:prstDash val="solid"/>
          </a:ln>
        </p:spPr>
      </p:sp>
      <p:sp>
        <p:nvSpPr>
          <p:cNvPr id="4" name="Check 1 disc"/>
          <p:cNvSpPr/>
          <p:nvPr/>
        </p:nvSpPr>
        <p:spPr>
          <a:xfrm>
            <a:off x="685800" y="1527048"/>
            <a:ext cx="603504" cy="603504"/>
          </a:xfrm>
          <a:prstGeom prst="ellipse">
            <a:avLst/>
          </a:prstGeom>
          <a:solidFill>
            <a:schemeClr val="accent3"/>
          </a:solidFill>
          <a:ln w="12700">
            <a:solidFill>
              <a:schemeClr val="accent3"/>
            </a:solidFill>
            <a:prstDash val="solid"/>
          </a:ln>
        </p:spPr>
      </p:sp>
      <p:pic>
        <p:nvPicPr>
          <p:cNvPr id="5" name="Check 1 icon" descr="Check 1">    </p:cNvPr>
          <p:cNvPicPr>
            <a:picLocks noChangeAspect="1"/>
          </p:cNvPicPr>
          <p:nvPr/>
        </p:nvPicPr>
        <p:blipFill>
          <a:blip r:embed="rId1"/>
          <a:stretch>
            <a:fillRect/>
          </a:stretch>
        </p:blipFill>
        <p:spPr>
          <a:xfrm>
            <a:off x="830641" y="1671889"/>
            <a:ext cx="313822" cy="313822"/>
          </a:xfrm>
          <a:prstGeom prst="rect">
            <a:avLst/>
          </a:prstGeom>
        </p:spPr>
      </p:pic>
      <p:sp>
        <p:nvSpPr>
          <p:cNvPr id="6" name="Check number 1"/>
          <p:cNvSpPr txBox="1"/>
          <p:nvPr/>
        </p:nvSpPr>
        <p:spPr>
          <a:xfrm>
            <a:off x="1508760" y="1307592"/>
            <a:ext cx="2788920" cy="457200"/>
          </a:xfrm>
          <a:prstGeom prst="rect">
            <a:avLst/>
          </a:prstGeom>
          <a:noFill/>
          <a:ln/>
        </p:spPr>
        <p:txBody>
          <a:bodyPr wrap="square" lIns="0" tIns="0" rIns="0" bIns="0" rtlCol="0" anchor="ctr"/>
          <a:lstStyle/>
          <a:p>
            <a:pPr indent="0" marL="0">
              <a:buNone/>
            </a:pPr>
            <a:r>
              <a:rPr lang="en-US" sz="2400" b="1" dirty="0">
                <a:solidFill>
                  <a:schemeClr val="accent3"/>
                </a:solidFill>
              </a:rPr>
              <a:t>72 of 200</a:t>
            </a:r>
            <a:endParaRPr lang="en-US" sz="2400" dirty="0"/>
          </a:p>
        </p:txBody>
      </p:sp>
      <p:sp>
        <p:nvSpPr>
          <p:cNvPr id="7" name="Check text 1"/>
          <p:cNvSpPr txBox="1"/>
          <p:nvPr/>
        </p:nvSpPr>
        <p:spPr>
          <a:xfrm>
            <a:off x="1508760" y="1783080"/>
            <a:ext cx="2788920" cy="640080"/>
          </a:xfrm>
          <a:prstGeom prst="rect">
            <a:avLst/>
          </a:prstGeom>
          <a:noFill/>
          <a:ln/>
        </p:spPr>
        <p:txBody>
          <a:bodyPr wrap="square" lIns="0" tIns="0" rIns="0" bIns="0" rtlCol="0" anchor="t"/>
          <a:lstStyle/>
          <a:p>
            <a:pPr indent="0" marL="0">
              <a:buNone/>
            </a:pPr>
            <a:r>
              <a:rPr lang="en-US" sz="1200" dirty="0">
                <a:solidFill>
                  <a:schemeClr val="tx1"/>
                </a:solidFill>
              </a:rPr>
              <a:t>stations report more bikes available than they can hold</a:t>
            </a:r>
            <a:endParaRPr lang="en-US" sz="1200" dirty="0"/>
          </a:p>
        </p:txBody>
      </p:sp>
      <p:sp>
        <p:nvSpPr>
          <p:cNvPr id="8" name="Check card 2"/>
          <p:cNvSpPr/>
          <p:nvPr/>
        </p:nvSpPr>
        <p:spPr>
          <a:xfrm>
            <a:off x="4663440" y="1143000"/>
            <a:ext cx="4023360" cy="1371600"/>
          </a:xfrm>
          <a:prstGeom prst="roundRect">
            <a:avLst>
              <a:gd name="adj" fmla="val 5333"/>
            </a:avLst>
          </a:prstGeom>
          <a:solidFill>
            <a:schemeClr val="bg2"/>
          </a:solidFill>
          <a:ln w="12700">
            <a:solidFill>
              <a:schemeClr val="bg2"/>
            </a:solidFill>
            <a:prstDash val="solid"/>
          </a:ln>
        </p:spPr>
      </p:sp>
      <p:sp>
        <p:nvSpPr>
          <p:cNvPr id="9" name="Check 2 disc"/>
          <p:cNvSpPr/>
          <p:nvPr/>
        </p:nvSpPr>
        <p:spPr>
          <a:xfrm>
            <a:off x="4892040" y="1527048"/>
            <a:ext cx="603504" cy="603504"/>
          </a:xfrm>
          <a:prstGeom prst="ellipse">
            <a:avLst/>
          </a:prstGeom>
          <a:solidFill>
            <a:schemeClr val="accent3"/>
          </a:solidFill>
          <a:ln w="12700">
            <a:solidFill>
              <a:schemeClr val="accent3"/>
            </a:solidFill>
            <a:prstDash val="solid"/>
          </a:ln>
        </p:spPr>
      </p:sp>
      <p:pic>
        <p:nvPicPr>
          <p:cNvPr id="10" name="Check 2 icon" descr="Check 2">    </p:cNvPr>
          <p:cNvPicPr>
            <a:picLocks noChangeAspect="1"/>
          </p:cNvPicPr>
          <p:nvPr/>
        </p:nvPicPr>
        <p:blipFill>
          <a:blip r:embed="rId2"/>
          <a:stretch>
            <a:fillRect/>
          </a:stretch>
        </p:blipFill>
        <p:spPr>
          <a:xfrm>
            <a:off x="5036881" y="1671889"/>
            <a:ext cx="313822" cy="313822"/>
          </a:xfrm>
          <a:prstGeom prst="rect">
            <a:avLst/>
          </a:prstGeom>
        </p:spPr>
      </p:pic>
      <p:sp>
        <p:nvSpPr>
          <p:cNvPr id="11" name="Check number 2"/>
          <p:cNvSpPr txBox="1"/>
          <p:nvPr/>
        </p:nvSpPr>
        <p:spPr>
          <a:xfrm>
            <a:off x="5715000" y="1307592"/>
            <a:ext cx="2788920" cy="457200"/>
          </a:xfrm>
          <a:prstGeom prst="rect">
            <a:avLst/>
          </a:prstGeom>
          <a:noFill/>
          <a:ln/>
        </p:spPr>
        <p:txBody>
          <a:bodyPr wrap="square" lIns="0" tIns="0" rIns="0" bIns="0" rtlCol="0" anchor="ctr"/>
          <a:lstStyle/>
          <a:p>
            <a:pPr indent="0" marL="0">
              <a:buNone/>
            </a:pPr>
            <a:r>
              <a:rPr lang="en-US" sz="2400" b="1" dirty="0">
                <a:solidFill>
                  <a:schemeClr val="accent3"/>
                </a:solidFill>
              </a:rPr>
              <a:t>3,461</a:t>
            </a:r>
            <a:endParaRPr lang="en-US" sz="2400" dirty="0"/>
          </a:p>
        </p:txBody>
      </p:sp>
      <p:sp>
        <p:nvSpPr>
          <p:cNvPr id="12" name="Check text 2"/>
          <p:cNvSpPr txBox="1"/>
          <p:nvPr/>
        </p:nvSpPr>
        <p:spPr>
          <a:xfrm>
            <a:off x="5715000" y="1783080"/>
            <a:ext cx="2788920" cy="640080"/>
          </a:xfrm>
          <a:prstGeom prst="rect">
            <a:avLst/>
          </a:prstGeom>
          <a:noFill/>
          <a:ln/>
        </p:spPr>
        <p:txBody>
          <a:bodyPr wrap="square" lIns="0" tIns="0" rIns="0" bIns="0" rtlCol="0" anchor="t"/>
          <a:lstStyle/>
          <a:p>
            <a:pPr indent="0" marL="0">
              <a:buNone/>
            </a:pPr>
            <a:r>
              <a:rPr lang="en-US" sz="1200" dirty="0">
                <a:solidFill>
                  <a:schemeClr val="tx1"/>
                </a:solidFill>
              </a:rPr>
              <a:t>trips imply over 40 km/h, up to 120 km/h; distance and duration correlate at 0.001</a:t>
            </a:r>
            <a:endParaRPr lang="en-US" sz="1200" dirty="0"/>
          </a:p>
        </p:txBody>
      </p:sp>
      <p:sp>
        <p:nvSpPr>
          <p:cNvPr id="13" name="Check card 3"/>
          <p:cNvSpPr/>
          <p:nvPr/>
        </p:nvSpPr>
        <p:spPr>
          <a:xfrm>
            <a:off x="457200" y="2679192"/>
            <a:ext cx="4023360" cy="1371600"/>
          </a:xfrm>
          <a:prstGeom prst="roundRect">
            <a:avLst>
              <a:gd name="adj" fmla="val 5333"/>
            </a:avLst>
          </a:prstGeom>
          <a:solidFill>
            <a:schemeClr val="bg2"/>
          </a:solidFill>
          <a:ln w="12700">
            <a:solidFill>
              <a:schemeClr val="bg2"/>
            </a:solidFill>
            <a:prstDash val="solid"/>
          </a:ln>
        </p:spPr>
      </p:sp>
      <p:sp>
        <p:nvSpPr>
          <p:cNvPr id="14" name="Check 3 disc"/>
          <p:cNvSpPr/>
          <p:nvPr/>
        </p:nvSpPr>
        <p:spPr>
          <a:xfrm>
            <a:off x="685800" y="3063240"/>
            <a:ext cx="603504" cy="603504"/>
          </a:xfrm>
          <a:prstGeom prst="ellipse">
            <a:avLst/>
          </a:prstGeom>
          <a:solidFill>
            <a:schemeClr val="accent3"/>
          </a:solidFill>
          <a:ln w="12700">
            <a:solidFill>
              <a:schemeClr val="accent3"/>
            </a:solidFill>
            <a:prstDash val="solid"/>
          </a:ln>
        </p:spPr>
      </p:sp>
      <p:pic>
        <p:nvPicPr>
          <p:cNvPr id="15" name="Check 3 icon" descr="Check 3">    </p:cNvPr>
          <p:cNvPicPr>
            <a:picLocks noChangeAspect="1"/>
          </p:cNvPicPr>
          <p:nvPr/>
        </p:nvPicPr>
        <p:blipFill>
          <a:blip r:embed="rId3"/>
          <a:stretch>
            <a:fillRect/>
          </a:stretch>
        </p:blipFill>
        <p:spPr>
          <a:xfrm>
            <a:off x="830641" y="3208081"/>
            <a:ext cx="313822" cy="313822"/>
          </a:xfrm>
          <a:prstGeom prst="rect">
            <a:avLst/>
          </a:prstGeom>
        </p:spPr>
      </p:pic>
      <p:sp>
        <p:nvSpPr>
          <p:cNvPr id="16" name="Check number 3"/>
          <p:cNvSpPr txBox="1"/>
          <p:nvPr/>
        </p:nvSpPr>
        <p:spPr>
          <a:xfrm>
            <a:off x="1508760" y="2843784"/>
            <a:ext cx="2788920" cy="457200"/>
          </a:xfrm>
          <a:prstGeom prst="rect">
            <a:avLst/>
          </a:prstGeom>
          <a:noFill/>
          <a:ln/>
        </p:spPr>
        <p:txBody>
          <a:bodyPr wrap="square" lIns="0" tIns="0" rIns="0" bIns="0" rtlCol="0" anchor="ctr"/>
          <a:lstStyle/>
          <a:p>
            <a:pPr indent="0" marL="0">
              <a:buNone/>
            </a:pPr>
            <a:r>
              <a:rPr lang="en-US" sz="2400" b="1" dirty="0">
                <a:solidFill>
                  <a:schemeClr val="accent3"/>
                </a:solidFill>
              </a:rPr>
              <a:t>899</a:t>
            </a:r>
            <a:endParaRPr lang="en-US" sz="2400" dirty="0"/>
          </a:p>
        </p:txBody>
      </p:sp>
      <p:sp>
        <p:nvSpPr>
          <p:cNvPr id="17" name="Check text 3"/>
          <p:cNvSpPr txBox="1"/>
          <p:nvPr/>
        </p:nvSpPr>
        <p:spPr>
          <a:xfrm>
            <a:off x="1508760" y="3319272"/>
            <a:ext cx="2788920" cy="640080"/>
          </a:xfrm>
          <a:prstGeom prst="rect">
            <a:avLst/>
          </a:prstGeom>
          <a:noFill/>
          <a:ln/>
        </p:spPr>
        <p:txBody>
          <a:bodyPr wrap="square" lIns="0" tIns="0" rIns="0" bIns="0" rtlCol="0" anchor="t"/>
          <a:lstStyle/>
          <a:p>
            <a:pPr indent="0" marL="0">
              <a:buNone/>
            </a:pPr>
            <a:r>
              <a:rPr lang="en-US" sz="1200" dirty="0">
                <a:solidFill>
                  <a:schemeClr val="tx1"/>
                </a:solidFill>
              </a:rPr>
              <a:t>repairs are dated before the bike was bought; 996 of 1,000 last-service dates disagree with the log</a:t>
            </a:r>
            <a:endParaRPr lang="en-US" sz="1200" dirty="0"/>
          </a:p>
        </p:txBody>
      </p:sp>
      <p:sp>
        <p:nvSpPr>
          <p:cNvPr id="18" name="Check card 4"/>
          <p:cNvSpPr/>
          <p:nvPr/>
        </p:nvSpPr>
        <p:spPr>
          <a:xfrm>
            <a:off x="4663440" y="2679192"/>
            <a:ext cx="4023360" cy="1371600"/>
          </a:xfrm>
          <a:prstGeom prst="roundRect">
            <a:avLst>
              <a:gd name="adj" fmla="val 5333"/>
            </a:avLst>
          </a:prstGeom>
          <a:solidFill>
            <a:schemeClr val="bg2"/>
          </a:solidFill>
          <a:ln w="12700">
            <a:solidFill>
              <a:schemeClr val="bg2"/>
            </a:solidFill>
            <a:prstDash val="solid"/>
          </a:ln>
        </p:spPr>
      </p:sp>
      <p:sp>
        <p:nvSpPr>
          <p:cNvPr id="19" name="Check 4 disc"/>
          <p:cNvSpPr/>
          <p:nvPr/>
        </p:nvSpPr>
        <p:spPr>
          <a:xfrm>
            <a:off x="4892040" y="3063240"/>
            <a:ext cx="603504" cy="603504"/>
          </a:xfrm>
          <a:prstGeom prst="ellipse">
            <a:avLst/>
          </a:prstGeom>
          <a:solidFill>
            <a:schemeClr val="accent3"/>
          </a:solidFill>
          <a:ln w="12700">
            <a:solidFill>
              <a:schemeClr val="accent3"/>
            </a:solidFill>
            <a:prstDash val="solid"/>
          </a:ln>
        </p:spPr>
      </p:sp>
      <p:pic>
        <p:nvPicPr>
          <p:cNvPr id="20" name="Check 4 icon" descr="Check 4">    </p:cNvPr>
          <p:cNvPicPr>
            <a:picLocks noChangeAspect="1"/>
          </p:cNvPicPr>
          <p:nvPr/>
        </p:nvPicPr>
        <p:blipFill>
          <a:blip r:embed="rId4"/>
          <a:stretch>
            <a:fillRect/>
          </a:stretch>
        </p:blipFill>
        <p:spPr>
          <a:xfrm>
            <a:off x="5036881" y="3208081"/>
            <a:ext cx="313822" cy="313822"/>
          </a:xfrm>
          <a:prstGeom prst="rect">
            <a:avLst/>
          </a:prstGeom>
        </p:spPr>
      </p:pic>
      <p:sp>
        <p:nvSpPr>
          <p:cNvPr id="21" name="Check number 4"/>
          <p:cNvSpPr txBox="1"/>
          <p:nvPr/>
        </p:nvSpPr>
        <p:spPr>
          <a:xfrm>
            <a:off x="5715000" y="2843784"/>
            <a:ext cx="2788920" cy="457200"/>
          </a:xfrm>
          <a:prstGeom prst="rect">
            <a:avLst/>
          </a:prstGeom>
          <a:noFill/>
          <a:ln/>
        </p:spPr>
        <p:txBody>
          <a:bodyPr wrap="square" lIns="0" tIns="0" rIns="0" bIns="0" rtlCol="0" anchor="ctr"/>
          <a:lstStyle/>
          <a:p>
            <a:pPr indent="0" marL="0">
              <a:buNone/>
            </a:pPr>
            <a:r>
              <a:rPr lang="en-US" sz="2400" b="1" dirty="0">
                <a:solidFill>
                  <a:schemeClr val="accent3"/>
                </a:solidFill>
              </a:rPr>
              <a:t>1 city / hour</a:t>
            </a:r>
            <a:endParaRPr lang="en-US" sz="2400" dirty="0"/>
          </a:p>
        </p:txBody>
      </p:sp>
      <p:sp>
        <p:nvSpPr>
          <p:cNvPr id="22" name="Check text 4"/>
          <p:cNvSpPr txBox="1"/>
          <p:nvPr/>
        </p:nvSpPr>
        <p:spPr>
          <a:xfrm>
            <a:off x="5715000" y="3319272"/>
            <a:ext cx="2788920" cy="640080"/>
          </a:xfrm>
          <a:prstGeom prst="rect">
            <a:avLst/>
          </a:prstGeom>
          <a:noFill/>
          <a:ln/>
        </p:spPr>
        <p:txBody>
          <a:bodyPr wrap="square" lIns="0" tIns="0" rIns="0" bIns="0" rtlCol="0" anchor="t"/>
          <a:lstStyle/>
          <a:p>
            <a:pPr indent="0" marL="0">
              <a:buNone/>
            </a:pPr>
            <a:r>
              <a:rPr lang="en-US" sz="1200" dirty="0">
                <a:solidFill>
                  <a:schemeClr val="tx1"/>
                </a:solidFill>
              </a:rPr>
              <a:t>weather is logged for one city at a time, so it cannot explain city demand</a:t>
            </a:r>
            <a:endParaRPr lang="en-US" sz="1200" dirty="0"/>
          </a:p>
        </p:txBody>
      </p:sp>
      <p:sp>
        <p:nvSpPr>
          <p:cNvPr id="23" name="Surface note"/>
          <p:cNvSpPr txBox="1"/>
          <p:nvPr/>
        </p:nvSpPr>
        <p:spPr>
          <a:xfrm>
            <a:off x="457200" y="4279392"/>
            <a:ext cx="8229600" cy="320040"/>
          </a:xfrm>
          <a:prstGeom prst="rect">
            <a:avLst/>
          </a:prstGeom>
          <a:noFill/>
          <a:ln/>
        </p:spPr>
        <p:txBody>
          <a:bodyPr wrap="square" lIns="0" tIns="0" rIns="0" bIns="0" rtlCol="0" anchor="ctr"/>
          <a:lstStyle/>
          <a:p>
            <a:pPr indent="0" marL="0">
              <a:buNone/>
            </a:pPr>
            <a:r>
              <a:rPr lang="en-US" sz="1200" i="1" dirty="0">
                <a:solidFill>
                  <a:schemeClr val="accent4"/>
                </a:solidFill>
              </a:rPr>
              <a:t>Clean on the surface: 0 duplicate trips, 0 missing values, 0 negative durations. 2 duplicate repair rows removed.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Three answers the data can still support</a:t>
            </a:r>
            <a:endParaRPr lang="en-US" sz="2600" dirty="0"/>
          </a:p>
        </p:txBody>
      </p:sp>
      <p:sp>
        <p:nvSpPr>
          <p:cNvPr id="3" name="Answer card 1"/>
          <p:cNvSpPr/>
          <p:nvPr/>
        </p:nvSpPr>
        <p:spPr>
          <a:xfrm>
            <a:off x="457200" y="1188720"/>
            <a:ext cx="2615184" cy="2788920"/>
          </a:xfrm>
          <a:prstGeom prst="roundRect">
            <a:avLst>
              <a:gd name="adj" fmla="val 2797"/>
            </a:avLst>
          </a:prstGeom>
          <a:solidFill>
            <a:schemeClr val="bg2"/>
          </a:solidFill>
          <a:ln w="12700">
            <a:solidFill>
              <a:schemeClr val="bg2"/>
            </a:solidFill>
            <a:prstDash val="solid"/>
          </a:ln>
        </p:spPr>
      </p:sp>
      <p:sp>
        <p:nvSpPr>
          <p:cNvPr id="4" name="Rebalancing disc"/>
          <p:cNvSpPr/>
          <p:nvPr/>
        </p:nvSpPr>
        <p:spPr>
          <a:xfrm>
            <a:off x="685800" y="1417320"/>
            <a:ext cx="502920" cy="502920"/>
          </a:xfrm>
          <a:prstGeom prst="ellipse">
            <a:avLst/>
          </a:prstGeom>
          <a:solidFill>
            <a:schemeClr val="accent1"/>
          </a:solidFill>
          <a:ln w="12700">
            <a:solidFill>
              <a:schemeClr val="accent1"/>
            </a:solidFill>
            <a:prstDash val="solid"/>
          </a:ln>
        </p:spPr>
      </p:sp>
      <p:pic>
        <p:nvPicPr>
          <p:cNvPr id="5" name="Rebalancing icon" descr="Rebalancing">    </p:cNvPr>
          <p:cNvPicPr>
            <a:picLocks noChangeAspect="1"/>
          </p:cNvPicPr>
          <p:nvPr/>
        </p:nvPicPr>
        <p:blipFill>
          <a:blip r:embed="rId1"/>
          <a:stretch>
            <a:fillRect/>
          </a:stretch>
        </p:blipFill>
        <p:spPr>
          <a:xfrm>
            <a:off x="806501" y="1538021"/>
            <a:ext cx="261518" cy="261518"/>
          </a:xfrm>
          <a:prstGeom prst="rect">
            <a:avLst/>
          </a:prstGeom>
        </p:spPr>
      </p:pic>
      <p:sp>
        <p:nvSpPr>
          <p:cNvPr id="6" name="Rebalancing title"/>
          <p:cNvSpPr txBox="1"/>
          <p:nvPr/>
        </p:nvSpPr>
        <p:spPr>
          <a:xfrm>
            <a:off x="1325880" y="1463040"/>
            <a:ext cx="1600200" cy="411480"/>
          </a:xfrm>
          <a:prstGeom prst="rect">
            <a:avLst/>
          </a:prstGeom>
          <a:noFill/>
          <a:ln/>
        </p:spPr>
        <p:txBody>
          <a:bodyPr wrap="square" lIns="0" tIns="0" rIns="0" bIns="0" rtlCol="0" anchor="ctr"/>
          <a:lstStyle/>
          <a:p>
            <a:pPr indent="0" marL="0">
              <a:buNone/>
            </a:pPr>
            <a:r>
              <a:rPr lang="en-US" sz="1600" b="1" dirty="0">
                <a:solidFill>
                  <a:schemeClr val="tx1"/>
                </a:solidFill>
              </a:rPr>
              <a:t>Rebalancing</a:t>
            </a:r>
            <a:endParaRPr lang="en-US" sz="1600" dirty="0"/>
          </a:p>
        </p:txBody>
      </p:sp>
      <p:sp>
        <p:nvSpPr>
          <p:cNvPr id="7" name="Rebalancing number"/>
          <p:cNvSpPr txBox="1"/>
          <p:nvPr/>
        </p:nvSpPr>
        <p:spPr>
          <a:xfrm>
            <a:off x="685800" y="2148840"/>
            <a:ext cx="2240280" cy="640080"/>
          </a:xfrm>
          <a:prstGeom prst="rect">
            <a:avLst/>
          </a:prstGeom>
          <a:noFill/>
          <a:ln/>
        </p:spPr>
        <p:txBody>
          <a:bodyPr wrap="square" lIns="0" tIns="0" rIns="0" bIns="0" rtlCol="0" anchor="ctr"/>
          <a:lstStyle/>
          <a:p>
            <a:pPr indent="0" marL="0">
              <a:buNone/>
            </a:pPr>
            <a:r>
              <a:rPr lang="en-US" sz="3200" b="1" dirty="0">
                <a:solidFill>
                  <a:schemeClr val="accent1"/>
                </a:solidFill>
              </a:rPr>
              <a:t>+65 / −63</a:t>
            </a:r>
            <a:endParaRPr lang="en-US" sz="3200" dirty="0"/>
          </a:p>
        </p:txBody>
      </p:sp>
      <p:sp>
        <p:nvSpPr>
          <p:cNvPr id="8" name="Rebalancing text"/>
          <p:cNvSpPr txBox="1"/>
          <p:nvPr/>
        </p:nvSpPr>
        <p:spPr>
          <a:xfrm>
            <a:off x="685800" y="2834640"/>
            <a:ext cx="2240280" cy="1051560"/>
          </a:xfrm>
          <a:prstGeom prst="rect">
            <a:avLst/>
          </a:prstGeom>
          <a:noFill/>
          <a:ln/>
        </p:spPr>
        <p:txBody>
          <a:bodyPr wrap="square" lIns="0" tIns="0" rIns="0" bIns="0" rtlCol="0" anchor="t"/>
          <a:lstStyle/>
          <a:p>
            <a:pPr indent="0" marL="0">
              <a:buNone/>
            </a:pPr>
            <a:r>
              <a:rPr lang="en-US" sz="1300" dirty="0">
                <a:solidFill>
                  <a:schemeClr val="tx1"/>
                </a:solidFill>
              </a:rPr>
              <a:t>Station 1 gains 65 more bikes than it loses; Station 148 loses 63. 32 stations are off by 40 or more.</a:t>
            </a:r>
            <a:endParaRPr lang="en-US" sz="1300" dirty="0"/>
          </a:p>
        </p:txBody>
      </p:sp>
      <p:sp>
        <p:nvSpPr>
          <p:cNvPr id="9" name="Answer card 2"/>
          <p:cNvSpPr/>
          <p:nvPr/>
        </p:nvSpPr>
        <p:spPr>
          <a:xfrm>
            <a:off x="3264408" y="1188720"/>
            <a:ext cx="2615184" cy="2788920"/>
          </a:xfrm>
          <a:prstGeom prst="roundRect">
            <a:avLst>
              <a:gd name="adj" fmla="val 2797"/>
            </a:avLst>
          </a:prstGeom>
          <a:solidFill>
            <a:schemeClr val="bg2"/>
          </a:solidFill>
          <a:ln w="12700">
            <a:solidFill>
              <a:schemeClr val="bg2"/>
            </a:solidFill>
            <a:prstDash val="solid"/>
          </a:ln>
        </p:spPr>
      </p:sp>
      <p:sp>
        <p:nvSpPr>
          <p:cNvPr id="10" name="Revenue mix disc"/>
          <p:cNvSpPr/>
          <p:nvPr/>
        </p:nvSpPr>
        <p:spPr>
          <a:xfrm>
            <a:off x="3493008" y="1417320"/>
            <a:ext cx="502920" cy="502920"/>
          </a:xfrm>
          <a:prstGeom prst="ellipse">
            <a:avLst/>
          </a:prstGeom>
          <a:solidFill>
            <a:schemeClr val="accent2"/>
          </a:solidFill>
          <a:ln w="12700">
            <a:solidFill>
              <a:schemeClr val="accent2"/>
            </a:solidFill>
            <a:prstDash val="solid"/>
          </a:ln>
        </p:spPr>
      </p:sp>
      <p:pic>
        <p:nvPicPr>
          <p:cNvPr id="11" name="Revenue mix icon" descr="Revenue mix">    </p:cNvPr>
          <p:cNvPicPr>
            <a:picLocks noChangeAspect="1"/>
          </p:cNvPicPr>
          <p:nvPr/>
        </p:nvPicPr>
        <p:blipFill>
          <a:blip r:embed="rId2"/>
          <a:stretch>
            <a:fillRect/>
          </a:stretch>
        </p:blipFill>
        <p:spPr>
          <a:xfrm>
            <a:off x="3613709" y="1538021"/>
            <a:ext cx="261518" cy="261518"/>
          </a:xfrm>
          <a:prstGeom prst="rect">
            <a:avLst/>
          </a:prstGeom>
        </p:spPr>
      </p:pic>
      <p:sp>
        <p:nvSpPr>
          <p:cNvPr id="12" name="Revenue mix title"/>
          <p:cNvSpPr txBox="1"/>
          <p:nvPr/>
        </p:nvSpPr>
        <p:spPr>
          <a:xfrm>
            <a:off x="4133088" y="1463040"/>
            <a:ext cx="1600200" cy="411480"/>
          </a:xfrm>
          <a:prstGeom prst="rect">
            <a:avLst/>
          </a:prstGeom>
          <a:noFill/>
          <a:ln/>
        </p:spPr>
        <p:txBody>
          <a:bodyPr wrap="square" lIns="0" tIns="0" rIns="0" bIns="0" rtlCol="0" anchor="ctr"/>
          <a:lstStyle/>
          <a:p>
            <a:pPr indent="0" marL="0">
              <a:buNone/>
            </a:pPr>
            <a:r>
              <a:rPr lang="en-US" sz="1600" b="1" dirty="0">
                <a:solidFill>
                  <a:schemeClr val="tx1"/>
                </a:solidFill>
              </a:rPr>
              <a:t>Revenue mix</a:t>
            </a:r>
            <a:endParaRPr lang="en-US" sz="1600" dirty="0"/>
          </a:p>
        </p:txBody>
      </p:sp>
      <p:sp>
        <p:nvSpPr>
          <p:cNvPr id="13" name="Revenue mix number"/>
          <p:cNvSpPr txBox="1"/>
          <p:nvPr/>
        </p:nvSpPr>
        <p:spPr>
          <a:xfrm>
            <a:off x="3493008" y="2148840"/>
            <a:ext cx="2240280" cy="640080"/>
          </a:xfrm>
          <a:prstGeom prst="rect">
            <a:avLst/>
          </a:prstGeom>
          <a:noFill/>
          <a:ln/>
        </p:spPr>
        <p:txBody>
          <a:bodyPr wrap="square" lIns="0" tIns="0" rIns="0" bIns="0" rtlCol="0" anchor="ctr"/>
          <a:lstStyle/>
          <a:p>
            <a:pPr indent="0" marL="0">
              <a:buNone/>
            </a:pPr>
            <a:r>
              <a:rPr lang="en-US" sz="3200" b="1" dirty="0">
                <a:solidFill>
                  <a:schemeClr val="accent2"/>
                </a:solidFill>
              </a:rPr>
              <a:t>60.3%</a:t>
            </a:r>
            <a:endParaRPr lang="en-US" sz="3200" dirty="0"/>
          </a:p>
        </p:txBody>
      </p:sp>
      <p:sp>
        <p:nvSpPr>
          <p:cNvPr id="14" name="Revenue mix text"/>
          <p:cNvSpPr txBox="1"/>
          <p:nvPr/>
        </p:nvSpPr>
        <p:spPr>
          <a:xfrm>
            <a:off x="3493008" y="2834640"/>
            <a:ext cx="2240280" cy="1051560"/>
          </a:xfrm>
          <a:prstGeom prst="rect">
            <a:avLst/>
          </a:prstGeom>
          <a:noFill/>
          <a:ln/>
        </p:spPr>
        <p:txBody>
          <a:bodyPr wrap="square" lIns="0" tIns="0" rIns="0" bIns="0" rtlCol="0" anchor="t"/>
          <a:lstStyle/>
          <a:p>
            <a:pPr indent="0" marL="0">
              <a:buNone/>
            </a:pPr>
            <a:r>
              <a:rPr lang="en-US" sz="1300" dirty="0">
                <a:solidFill>
                  <a:schemeClr val="tx1"/>
                </a:solidFill>
              </a:rPr>
              <a:t>of 136,065 in fares comes from subscriptions. February's −15.2% dip is −6.1% per day: mostly its 28 days.</a:t>
            </a:r>
            <a:endParaRPr lang="en-US" sz="1300" dirty="0"/>
          </a:p>
        </p:txBody>
      </p:sp>
      <p:sp>
        <p:nvSpPr>
          <p:cNvPr id="15" name="Answer card 3"/>
          <p:cNvSpPr/>
          <p:nvPr/>
        </p:nvSpPr>
        <p:spPr>
          <a:xfrm>
            <a:off x="6071616" y="1188720"/>
            <a:ext cx="2615184" cy="2788920"/>
          </a:xfrm>
          <a:prstGeom prst="roundRect">
            <a:avLst>
              <a:gd name="adj" fmla="val 2797"/>
            </a:avLst>
          </a:prstGeom>
          <a:solidFill>
            <a:schemeClr val="bg2"/>
          </a:solidFill>
          <a:ln w="12700">
            <a:solidFill>
              <a:schemeClr val="bg2"/>
            </a:solidFill>
            <a:prstDash val="solid"/>
          </a:ln>
        </p:spPr>
      </p:sp>
      <p:sp>
        <p:nvSpPr>
          <p:cNvPr id="16" name="Maintenance disc"/>
          <p:cNvSpPr/>
          <p:nvPr/>
        </p:nvSpPr>
        <p:spPr>
          <a:xfrm>
            <a:off x="6300216" y="1417320"/>
            <a:ext cx="502920" cy="502920"/>
          </a:xfrm>
          <a:prstGeom prst="ellipse">
            <a:avLst/>
          </a:prstGeom>
          <a:solidFill>
            <a:schemeClr val="accent6"/>
          </a:solidFill>
          <a:ln w="12700">
            <a:solidFill>
              <a:schemeClr val="accent6"/>
            </a:solidFill>
            <a:prstDash val="solid"/>
          </a:ln>
        </p:spPr>
      </p:sp>
      <p:pic>
        <p:nvPicPr>
          <p:cNvPr id="17" name="Maintenance icon" descr="Maintenance">    </p:cNvPr>
          <p:cNvPicPr>
            <a:picLocks noChangeAspect="1"/>
          </p:cNvPicPr>
          <p:nvPr/>
        </p:nvPicPr>
        <p:blipFill>
          <a:blip r:embed="rId3"/>
          <a:stretch>
            <a:fillRect/>
          </a:stretch>
        </p:blipFill>
        <p:spPr>
          <a:xfrm>
            <a:off x="6420917" y="1538021"/>
            <a:ext cx="261518" cy="261518"/>
          </a:xfrm>
          <a:prstGeom prst="rect">
            <a:avLst/>
          </a:prstGeom>
        </p:spPr>
      </p:pic>
      <p:sp>
        <p:nvSpPr>
          <p:cNvPr id="18" name="Maintenance title"/>
          <p:cNvSpPr txBox="1"/>
          <p:nvPr/>
        </p:nvSpPr>
        <p:spPr>
          <a:xfrm>
            <a:off x="6940296" y="1463040"/>
            <a:ext cx="1600200" cy="411480"/>
          </a:xfrm>
          <a:prstGeom prst="rect">
            <a:avLst/>
          </a:prstGeom>
          <a:noFill/>
          <a:ln/>
        </p:spPr>
        <p:txBody>
          <a:bodyPr wrap="square" lIns="0" tIns="0" rIns="0" bIns="0" rtlCol="0" anchor="ctr"/>
          <a:lstStyle/>
          <a:p>
            <a:pPr indent="0" marL="0">
              <a:buNone/>
            </a:pPr>
            <a:r>
              <a:rPr lang="en-US" sz="1600" b="1" dirty="0">
                <a:solidFill>
                  <a:schemeClr val="tx1"/>
                </a:solidFill>
              </a:rPr>
              <a:t>Maintenance</a:t>
            </a:r>
            <a:endParaRPr lang="en-US" sz="1600" dirty="0"/>
          </a:p>
        </p:txBody>
      </p:sp>
      <p:sp>
        <p:nvSpPr>
          <p:cNvPr id="19" name="Maintenance number"/>
          <p:cNvSpPr txBox="1"/>
          <p:nvPr/>
        </p:nvSpPr>
        <p:spPr>
          <a:xfrm>
            <a:off x="6300216" y="2148840"/>
            <a:ext cx="2240280" cy="640080"/>
          </a:xfrm>
          <a:prstGeom prst="rect">
            <a:avLst/>
          </a:prstGeom>
          <a:noFill/>
          <a:ln/>
        </p:spPr>
        <p:txBody>
          <a:bodyPr wrap="square" lIns="0" tIns="0" rIns="0" bIns="0" rtlCol="0" anchor="ctr"/>
          <a:lstStyle/>
          <a:p>
            <a:pPr indent="0" marL="0">
              <a:buNone/>
            </a:pPr>
            <a:r>
              <a:rPr lang="en-US" sz="3200" b="1" dirty="0">
                <a:solidFill>
                  <a:schemeClr val="accent6"/>
                </a:solidFill>
              </a:rPr>
              <a:t>r = 0.04</a:t>
            </a:r>
            <a:endParaRPr lang="en-US" sz="3200" dirty="0"/>
          </a:p>
        </p:txBody>
      </p:sp>
      <p:sp>
        <p:nvSpPr>
          <p:cNvPr id="20" name="Maintenance text"/>
          <p:cNvSpPr txBox="1"/>
          <p:nvPr/>
        </p:nvSpPr>
        <p:spPr>
          <a:xfrm>
            <a:off x="6300216" y="2834640"/>
            <a:ext cx="2240280" cy="1051560"/>
          </a:xfrm>
          <a:prstGeom prst="rect">
            <a:avLst/>
          </a:prstGeom>
          <a:noFill/>
          <a:ln/>
        </p:spPr>
        <p:txBody>
          <a:bodyPr wrap="square" lIns="0" tIns="0" rIns="0" bIns="0" rtlCol="0" anchor="t"/>
          <a:lstStyle/>
          <a:p>
            <a:pPr indent="0" marL="0">
              <a:buNone/>
            </a:pPr>
            <a:r>
              <a:rPr lang="en-US" sz="1300" dirty="0">
                <a:solidFill>
                  <a:schemeClr val="tx1"/>
                </a:solidFill>
              </a:rPr>
              <a:t>between a bike's trips and its repairs. Flat tyres lead with 2,586 of 9,998 repairs.</a:t>
            </a:r>
            <a:endParaRPr lang="en-US" sz="1300" dirty="0"/>
          </a:p>
        </p:txBody>
      </p:sp>
      <p:sp>
        <p:nvSpPr>
          <p:cNvPr id="21" name="Answers takeaway"/>
          <p:cNvSpPr txBox="1"/>
          <p:nvPr/>
        </p:nvSpPr>
        <p:spPr>
          <a:xfrm>
            <a:off x="457200" y="4187952"/>
            <a:ext cx="8229600" cy="320040"/>
          </a:xfrm>
          <a:prstGeom prst="rect">
            <a:avLst/>
          </a:prstGeom>
          <a:noFill/>
          <a:ln/>
        </p:spPr>
        <p:txBody>
          <a:bodyPr wrap="square" lIns="0" tIns="0" rIns="0" bIns="0" rtlCol="0" anchor="ctr"/>
          <a:lstStyle/>
          <a:p>
            <a:pPr indent="0" marL="0">
              <a:buNone/>
            </a:pPr>
            <a:r>
              <a:rPr lang="en-US" sz="1300" i="1" dirty="0">
                <a:solidFill>
                  <a:schemeClr val="accent4"/>
                </a:solidFill>
              </a:rPr>
              <a:t>None of these depend on realistic trip speeds or timing, so they hold even on generated data.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A 3-page Power BI dashboard on the MySQL tables</a:t>
            </a:r>
            <a:endParaRPr lang="en-US" sz="2600" dirty="0"/>
          </a:p>
        </p:txBody>
      </p:sp>
      <p:pic>
        <p:nvPicPr>
          <p:cNvPr id="3" name="Dashboard page 1" descr="Power BI dashboard page 1: KPI cards, weekday vs weekend by city, ride types, trips by hour">    </p:cNvPr>
          <p:cNvPicPr>
            <a:picLocks noChangeAspect="1"/>
          </p:cNvPicPr>
          <p:nvPr/>
        </p:nvPicPr>
        <p:blipFill>
          <a:blip r:embed="rId1"/>
          <a:stretch>
            <a:fillRect/>
          </a:stretch>
        </p:blipFill>
        <p:spPr>
          <a:xfrm>
            <a:off x="457200" y="1188720"/>
            <a:ext cx="5577840" cy="3136392"/>
          </a:xfrm>
          <a:prstGeom prst="rect">
            <a:avLst/>
          </a:prstGeom>
        </p:spPr>
      </p:pic>
      <p:sp>
        <p:nvSpPr>
          <p:cNvPr id="4" name="Page title 1"/>
          <p:cNvSpPr txBox="1"/>
          <p:nvPr/>
        </p:nvSpPr>
        <p:spPr>
          <a:xfrm>
            <a:off x="6263640" y="1188720"/>
            <a:ext cx="2423160" cy="292608"/>
          </a:xfrm>
          <a:prstGeom prst="rect">
            <a:avLst/>
          </a:prstGeom>
          <a:noFill/>
          <a:ln/>
        </p:spPr>
        <p:txBody>
          <a:bodyPr wrap="square" lIns="0" tIns="0" rIns="0" bIns="0" rtlCol="0" anchor="ctr"/>
          <a:lstStyle/>
          <a:p>
            <a:pPr indent="0" marL="0">
              <a:buNone/>
            </a:pPr>
            <a:r>
              <a:rPr lang="en-US" sz="1500" b="1" dirty="0">
                <a:solidFill>
                  <a:schemeClr val="tx1"/>
                </a:solidFill>
              </a:rPr>
              <a:t>1. Overview</a:t>
            </a:r>
            <a:endParaRPr lang="en-US" sz="1500" dirty="0"/>
          </a:p>
        </p:txBody>
      </p:sp>
      <p:sp>
        <p:nvSpPr>
          <p:cNvPr id="5" name="Page text 1"/>
          <p:cNvSpPr txBox="1"/>
          <p:nvPr/>
        </p:nvSpPr>
        <p:spPr>
          <a:xfrm>
            <a:off x="6263640" y="1490472"/>
            <a:ext cx="2423160" cy="502920"/>
          </a:xfrm>
          <a:prstGeom prst="rect">
            <a:avLst/>
          </a:prstGeom>
          <a:noFill/>
          <a:ln/>
        </p:spPr>
        <p:txBody>
          <a:bodyPr wrap="square" lIns="0" tIns="0" rIns="0" bIns="0" rtlCol="0" anchor="t"/>
          <a:lstStyle/>
          <a:p>
            <a:pPr indent="0" marL="0">
              <a:buNone/>
            </a:pPr>
            <a:r>
              <a:rPr lang="en-US" sz="1200" dirty="0">
                <a:solidFill>
                  <a:schemeClr val="accent4"/>
                </a:solidFill>
              </a:rPr>
              <a:t>KPIs, weekday vs weekend by city, ride types, trips by hour</a:t>
            </a:r>
            <a:endParaRPr lang="en-US" sz="1200" dirty="0"/>
          </a:p>
        </p:txBody>
      </p:sp>
      <p:sp>
        <p:nvSpPr>
          <p:cNvPr id="6" name="Page title 2"/>
          <p:cNvSpPr txBox="1"/>
          <p:nvPr/>
        </p:nvSpPr>
        <p:spPr>
          <a:xfrm>
            <a:off x="6263640" y="2057400"/>
            <a:ext cx="2423160" cy="292608"/>
          </a:xfrm>
          <a:prstGeom prst="rect">
            <a:avLst/>
          </a:prstGeom>
          <a:noFill/>
          <a:ln/>
        </p:spPr>
        <p:txBody>
          <a:bodyPr wrap="square" lIns="0" tIns="0" rIns="0" bIns="0" rtlCol="0" anchor="ctr"/>
          <a:lstStyle/>
          <a:p>
            <a:pPr indent="0" marL="0">
              <a:buNone/>
            </a:pPr>
            <a:r>
              <a:rPr lang="en-US" sz="1500" b="1" dirty="0">
                <a:solidFill>
                  <a:schemeClr val="tx1"/>
                </a:solidFill>
              </a:rPr>
              <a:t>2. Operations</a:t>
            </a:r>
            <a:endParaRPr lang="en-US" sz="1500" dirty="0"/>
          </a:p>
        </p:txBody>
      </p:sp>
      <p:sp>
        <p:nvSpPr>
          <p:cNvPr id="7" name="Page text 2"/>
          <p:cNvSpPr txBox="1"/>
          <p:nvPr/>
        </p:nvSpPr>
        <p:spPr>
          <a:xfrm>
            <a:off x="6263640" y="2359152"/>
            <a:ext cx="2423160" cy="502920"/>
          </a:xfrm>
          <a:prstGeom prst="rect">
            <a:avLst/>
          </a:prstGeom>
          <a:noFill/>
          <a:ln/>
        </p:spPr>
        <p:txBody>
          <a:bodyPr wrap="square" lIns="0" tIns="0" rIns="0" bIns="0" rtlCol="0" anchor="t"/>
          <a:lstStyle/>
          <a:p>
            <a:pPr indent="0" marL="0">
              <a:buNone/>
            </a:pPr>
            <a:r>
              <a:rPr lang="en-US" sz="1200" dirty="0">
                <a:solidFill>
                  <a:schemeClr val="accent4"/>
                </a:solidFill>
              </a:rPr>
              <a:t>Station peaks, issues by bike type and season, age and gender</a:t>
            </a:r>
            <a:endParaRPr lang="en-US" sz="1200" dirty="0"/>
          </a:p>
        </p:txBody>
      </p:sp>
      <p:sp>
        <p:nvSpPr>
          <p:cNvPr id="8" name="Page title 3"/>
          <p:cNvSpPr txBox="1"/>
          <p:nvPr/>
        </p:nvSpPr>
        <p:spPr>
          <a:xfrm>
            <a:off x="6263640" y="2926080"/>
            <a:ext cx="2423160" cy="292608"/>
          </a:xfrm>
          <a:prstGeom prst="rect">
            <a:avLst/>
          </a:prstGeom>
          <a:noFill/>
          <a:ln/>
        </p:spPr>
        <p:txBody>
          <a:bodyPr wrap="square" lIns="0" tIns="0" rIns="0" bIns="0" rtlCol="0" anchor="ctr"/>
          <a:lstStyle/>
          <a:p>
            <a:pPr indent="0" marL="0">
              <a:buNone/>
            </a:pPr>
            <a:r>
              <a:rPr lang="en-US" sz="1500" b="1" dirty="0">
                <a:solidFill>
                  <a:schemeClr val="tx1"/>
                </a:solidFill>
              </a:rPr>
              <a:t>3. Revenue growth</a:t>
            </a:r>
            <a:endParaRPr lang="en-US" sz="1500" dirty="0"/>
          </a:p>
        </p:txBody>
      </p:sp>
      <p:sp>
        <p:nvSpPr>
          <p:cNvPr id="9" name="Page text 3"/>
          <p:cNvSpPr txBox="1"/>
          <p:nvPr/>
        </p:nvSpPr>
        <p:spPr>
          <a:xfrm>
            <a:off x="6263640" y="3227832"/>
            <a:ext cx="2423160" cy="502920"/>
          </a:xfrm>
          <a:prstGeom prst="rect">
            <a:avLst/>
          </a:prstGeom>
          <a:noFill/>
          <a:ln/>
        </p:spPr>
        <p:txBody>
          <a:bodyPr wrap="square" lIns="0" tIns="0" rIns="0" bIns="0" rtlCol="0" anchor="t"/>
          <a:lstStyle/>
          <a:p>
            <a:pPr indent="0" marL="0">
              <a:buNone/>
            </a:pPr>
            <a:r>
              <a:rPr lang="en-US" sz="1200" dirty="0">
                <a:solidFill>
                  <a:schemeClr val="accent4"/>
                </a:solidFill>
              </a:rPr>
              <a:t>Monthly revenue and month-on-month growth</a:t>
            </a:r>
            <a:endParaRPr lang="en-US" sz="1200" dirty="0"/>
          </a:p>
        </p:txBody>
      </p:sp>
      <p:sp>
        <p:nvSpPr>
          <p:cNvPr id="10" name="DAX note"/>
          <p:cNvSpPr txBox="1"/>
          <p:nvPr/>
        </p:nvSpPr>
        <p:spPr>
          <a:xfrm>
            <a:off x="6263640" y="3840480"/>
            <a:ext cx="2423160" cy="502920"/>
          </a:xfrm>
          <a:prstGeom prst="rect">
            <a:avLst/>
          </a:prstGeom>
          <a:noFill/>
          <a:ln/>
        </p:spPr>
        <p:txBody>
          <a:bodyPr wrap="square" lIns="0" tIns="0" rIns="0" bIns="0" rtlCol="0" anchor="t"/>
          <a:lstStyle/>
          <a:p>
            <a:pPr indent="0" marL="0">
              <a:buNone/>
            </a:pPr>
            <a:r>
              <a:rPr lang="en-US" sz="1100" i="1" dirty="0">
                <a:solidFill>
                  <a:schemeClr val="accent4"/>
                </a:solidFill>
              </a:rPr>
              <a:t>Slicers for city, ride type and date. Arrivals use an inactive relationship with USERELATIONSHIP.</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Next steps: rebalance now, collect real data before planning</a:t>
            </a:r>
            <a:endParaRPr lang="en-US" sz="2600" dirty="0"/>
          </a:p>
        </p:txBody>
      </p:sp>
      <p:sp>
        <p:nvSpPr>
          <p:cNvPr id="3" name="Next 1 disc"/>
          <p:cNvSpPr/>
          <p:nvPr/>
        </p:nvSpPr>
        <p:spPr>
          <a:xfrm>
            <a:off x="548640" y="1234440"/>
            <a:ext cx="548640" cy="548640"/>
          </a:xfrm>
          <a:prstGeom prst="ellipse">
            <a:avLst/>
          </a:prstGeom>
          <a:solidFill>
            <a:schemeClr val="accent2"/>
          </a:solidFill>
          <a:ln w="12700">
            <a:solidFill>
              <a:schemeClr val="accent2"/>
            </a:solidFill>
            <a:prstDash val="solid"/>
          </a:ln>
        </p:spPr>
      </p:sp>
      <p:pic>
        <p:nvPicPr>
          <p:cNvPr id="4" name="Next 1 icon" descr="Next 1">    </p:cNvPr>
          <p:cNvPicPr>
            <a:picLocks noChangeAspect="1"/>
          </p:cNvPicPr>
          <p:nvPr/>
        </p:nvPicPr>
        <p:blipFill>
          <a:blip r:embed="rId1"/>
          <a:stretch>
            <a:fillRect/>
          </a:stretch>
        </p:blipFill>
        <p:spPr>
          <a:xfrm>
            <a:off x="680314" y="1366114"/>
            <a:ext cx="285293" cy="285293"/>
          </a:xfrm>
          <a:prstGeom prst="rect">
            <a:avLst/>
          </a:prstGeom>
        </p:spPr>
      </p:pic>
      <p:sp>
        <p:nvSpPr>
          <p:cNvPr id="5" name="Next text 1"/>
          <p:cNvSpPr txBox="1"/>
          <p:nvPr/>
        </p:nvSpPr>
        <p:spPr>
          <a:xfrm>
            <a:off x="1325880" y="1216152"/>
            <a:ext cx="7315200" cy="585216"/>
          </a:xfrm>
          <a:prstGeom prst="rect">
            <a:avLst/>
          </a:prstGeom>
          <a:noFill/>
          <a:ln/>
        </p:spPr>
        <p:txBody>
          <a:bodyPr wrap="square" lIns="0" tIns="0" rIns="0" bIns="0" rtlCol="0" anchor="ctr"/>
          <a:lstStyle/>
          <a:p>
            <a:pPr indent="0" marL="0">
              <a:buNone/>
            </a:pPr>
            <a:r>
              <a:rPr lang="en-US" sz="1500" b="1" dirty="0">
                <a:solidFill>
                  <a:schemeClr val="accent1"/>
                </a:solidFill>
              </a:rPr>
              <a:t>1  </a:t>
            </a:r>
            <a:pPr indent="0" marL="0">
              <a:buNone/>
            </a:pPr>
            <a:r>
              <a:rPr lang="en-US" sz="1500" dirty="0">
                <a:solidFill>
                  <a:schemeClr val="tx1"/>
                </a:solidFill>
              </a:rPr>
              <a:t>Rebalance the 32 most imbalanced stations on a daily route, starting with the biggest gainers and losers.</a:t>
            </a:r>
            <a:endParaRPr lang="en-US" sz="1500" dirty="0"/>
          </a:p>
        </p:txBody>
      </p:sp>
      <p:sp>
        <p:nvSpPr>
          <p:cNvPr id="6" name="Next 2 disc"/>
          <p:cNvSpPr/>
          <p:nvPr/>
        </p:nvSpPr>
        <p:spPr>
          <a:xfrm>
            <a:off x="548640" y="2057400"/>
            <a:ext cx="548640" cy="548640"/>
          </a:xfrm>
          <a:prstGeom prst="ellipse">
            <a:avLst/>
          </a:prstGeom>
          <a:solidFill>
            <a:schemeClr val="accent1"/>
          </a:solidFill>
          <a:ln w="12700">
            <a:solidFill>
              <a:schemeClr val="accent1"/>
            </a:solidFill>
            <a:prstDash val="solid"/>
          </a:ln>
        </p:spPr>
      </p:sp>
      <p:pic>
        <p:nvPicPr>
          <p:cNvPr id="7" name="Next 2 icon" descr="Next 2">    </p:cNvPr>
          <p:cNvPicPr>
            <a:picLocks noChangeAspect="1"/>
          </p:cNvPicPr>
          <p:nvPr/>
        </p:nvPicPr>
        <p:blipFill>
          <a:blip r:embed="rId2"/>
          <a:stretch>
            <a:fillRect/>
          </a:stretch>
        </p:blipFill>
        <p:spPr>
          <a:xfrm>
            <a:off x="680314" y="2189074"/>
            <a:ext cx="285293" cy="285293"/>
          </a:xfrm>
          <a:prstGeom prst="rect">
            <a:avLst/>
          </a:prstGeom>
        </p:spPr>
      </p:pic>
      <p:sp>
        <p:nvSpPr>
          <p:cNvPr id="8" name="Next text 2"/>
          <p:cNvSpPr txBox="1"/>
          <p:nvPr/>
        </p:nvSpPr>
        <p:spPr>
          <a:xfrm>
            <a:off x="1325880" y="2039112"/>
            <a:ext cx="7315200" cy="585216"/>
          </a:xfrm>
          <a:prstGeom prst="rect">
            <a:avLst/>
          </a:prstGeom>
          <a:noFill/>
          <a:ln/>
        </p:spPr>
        <p:txBody>
          <a:bodyPr wrap="square" lIns="0" tIns="0" rIns="0" bIns="0" rtlCol="0" anchor="ctr"/>
          <a:lstStyle/>
          <a:p>
            <a:pPr indent="0" marL="0">
              <a:buNone/>
            </a:pPr>
            <a:r>
              <a:rPr lang="en-US" sz="1500" b="1" dirty="0">
                <a:solidFill>
                  <a:schemeClr val="accent1"/>
                </a:solidFill>
              </a:rPr>
              <a:t>2  </a:t>
            </a:r>
            <a:pPr indent="0" marL="0">
              <a:buNone/>
            </a:pPr>
            <a:r>
              <a:rPr lang="en-US" sz="1500" dirty="0">
                <a:solidFill>
                  <a:schemeClr val="tx1"/>
                </a:solidFill>
              </a:rPr>
              <a:t>Report demand per day and per station-hour, never as raw totals across uneven periods.</a:t>
            </a:r>
            <a:endParaRPr lang="en-US" sz="1500" dirty="0"/>
          </a:p>
        </p:txBody>
      </p:sp>
      <p:sp>
        <p:nvSpPr>
          <p:cNvPr id="9" name="Next 3 disc"/>
          <p:cNvSpPr/>
          <p:nvPr/>
        </p:nvSpPr>
        <p:spPr>
          <a:xfrm>
            <a:off x="548640" y="2880360"/>
            <a:ext cx="548640" cy="548640"/>
          </a:xfrm>
          <a:prstGeom prst="ellipse">
            <a:avLst/>
          </a:prstGeom>
          <a:solidFill>
            <a:schemeClr val="accent1"/>
          </a:solidFill>
          <a:ln w="12700">
            <a:solidFill>
              <a:schemeClr val="accent1"/>
            </a:solidFill>
            <a:prstDash val="solid"/>
          </a:ln>
        </p:spPr>
      </p:sp>
      <p:pic>
        <p:nvPicPr>
          <p:cNvPr id="10" name="Next 3 icon" descr="Next 3">    </p:cNvPr>
          <p:cNvPicPr>
            <a:picLocks noChangeAspect="1"/>
          </p:cNvPicPr>
          <p:nvPr/>
        </p:nvPicPr>
        <p:blipFill>
          <a:blip r:embed="rId3"/>
          <a:stretch>
            <a:fillRect/>
          </a:stretch>
        </p:blipFill>
        <p:spPr>
          <a:xfrm>
            <a:off x="680314" y="3012034"/>
            <a:ext cx="285293" cy="285293"/>
          </a:xfrm>
          <a:prstGeom prst="rect">
            <a:avLst/>
          </a:prstGeom>
        </p:spPr>
      </p:pic>
      <p:sp>
        <p:nvSpPr>
          <p:cNvPr id="11" name="Next text 3"/>
          <p:cNvSpPr txBox="1"/>
          <p:nvPr/>
        </p:nvSpPr>
        <p:spPr>
          <a:xfrm>
            <a:off x="1325880" y="2862072"/>
            <a:ext cx="7315200" cy="585216"/>
          </a:xfrm>
          <a:prstGeom prst="rect">
            <a:avLst/>
          </a:prstGeom>
          <a:noFill/>
          <a:ln/>
        </p:spPr>
        <p:txBody>
          <a:bodyPr wrap="square" lIns="0" tIns="0" rIns="0" bIns="0" rtlCol="0" anchor="ctr"/>
          <a:lstStyle/>
          <a:p>
            <a:pPr indent="0" marL="0">
              <a:buNone/>
            </a:pPr>
            <a:r>
              <a:rPr lang="en-US" sz="1500" b="1" dirty="0">
                <a:solidFill>
                  <a:schemeClr val="accent1"/>
                </a:solidFill>
              </a:rPr>
              <a:t>3  </a:t>
            </a:r>
            <a:pPr indent="0" marL="0">
              <a:buNone/>
            </a:pPr>
            <a:r>
              <a:rPr lang="en-US" sz="1500" dirty="0">
                <a:solidFill>
                  <a:schemeClr val="tx1"/>
                </a:solidFill>
              </a:rPr>
              <a:t>Collect dock-sensor counts, GPS distance and odometer readings, then rerun the commute and maintenance analysis.</a:t>
            </a:r>
            <a:endParaRPr lang="en-US" sz="1500" dirty="0"/>
          </a:p>
        </p:txBody>
      </p:sp>
      <p:sp>
        <p:nvSpPr>
          <p:cNvPr id="12" name="Next 4 disc"/>
          <p:cNvSpPr/>
          <p:nvPr/>
        </p:nvSpPr>
        <p:spPr>
          <a:xfrm>
            <a:off x="548640" y="3703320"/>
            <a:ext cx="548640" cy="548640"/>
          </a:xfrm>
          <a:prstGeom prst="ellipse">
            <a:avLst/>
          </a:prstGeom>
          <a:solidFill>
            <a:schemeClr val="accent1"/>
          </a:solidFill>
          <a:ln w="12700">
            <a:solidFill>
              <a:schemeClr val="accent1"/>
            </a:solidFill>
            <a:prstDash val="solid"/>
          </a:ln>
        </p:spPr>
      </p:sp>
      <p:pic>
        <p:nvPicPr>
          <p:cNvPr id="13" name="Next 4 icon" descr="Next 4">    </p:cNvPr>
          <p:cNvPicPr>
            <a:picLocks noChangeAspect="1"/>
          </p:cNvPicPr>
          <p:nvPr/>
        </p:nvPicPr>
        <p:blipFill>
          <a:blip r:embed="rId4"/>
          <a:stretch>
            <a:fillRect/>
          </a:stretch>
        </p:blipFill>
        <p:spPr>
          <a:xfrm>
            <a:off x="680314" y="3834994"/>
            <a:ext cx="285293" cy="285293"/>
          </a:xfrm>
          <a:prstGeom prst="rect">
            <a:avLst/>
          </a:prstGeom>
        </p:spPr>
      </p:pic>
      <p:sp>
        <p:nvSpPr>
          <p:cNvPr id="14" name="Next text 4"/>
          <p:cNvSpPr txBox="1"/>
          <p:nvPr/>
        </p:nvSpPr>
        <p:spPr>
          <a:xfrm>
            <a:off x="1325880" y="3685032"/>
            <a:ext cx="7315200" cy="585216"/>
          </a:xfrm>
          <a:prstGeom prst="rect">
            <a:avLst/>
          </a:prstGeom>
          <a:noFill/>
          <a:ln/>
        </p:spPr>
        <p:txBody>
          <a:bodyPr wrap="square" lIns="0" tIns="0" rIns="0" bIns="0" rtlCol="0" anchor="ctr"/>
          <a:lstStyle/>
          <a:p>
            <a:pPr indent="0" marL="0">
              <a:buNone/>
            </a:pPr>
            <a:r>
              <a:rPr lang="en-US" sz="1500" b="1" dirty="0">
                <a:solidFill>
                  <a:schemeClr val="accent1"/>
                </a:solidFill>
              </a:rPr>
              <a:t>4  </a:t>
            </a:r>
            <a:pPr indent="0" marL="0">
              <a:buNone/>
            </a:pPr>
            <a:r>
              <a:rPr lang="en-US" sz="1500" dirty="0">
                <a:solidFill>
                  <a:schemeClr val="tx1"/>
                </a:solidFill>
              </a:rPr>
              <a:t>Fix the source: cap available bikes at capacity and block repair dates before purchase dates.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800" b="1" dirty="0">
                <a:solidFill>
                  <a:schemeClr val="bg1"/>
                </a:solidFill>
              </a:rPr>
              <a:t>Happy to walk you through the SQL</a:t>
            </a: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Every number in this deck is reproduced by the repo's build and checked on every push.</a:t>
            </a:r>
            <a:endParaRPr lang="en-US" sz="1800" dirty="0"/>
          </a:p>
        </p:txBody>
      </p:sp>
      <p:pic>
        <p:nvPicPr>
          <p:cNvPr id="4" name="Link icon 1" descr="github">    </p:cNvPr>
          <p:cNvPicPr>
            <a:picLocks noChangeAspect="1"/>
          </p:cNvPicPr>
          <p:nvPr/>
        </p:nvPicPr>
        <p:blipFill>
          <a:blip r:embed="rId1"/>
          <a:stretch>
            <a:fillRect/>
          </a:stretch>
        </p:blipFill>
        <p:spPr>
          <a:xfrm>
            <a:off x="548640" y="3739896"/>
            <a:ext cx="237744" cy="237744"/>
          </a:xfrm>
          <a:prstGeom prst="rect">
            <a:avLst/>
          </a:prstGeom>
        </p:spPr>
      </p:pic>
      <p:sp>
        <p:nvSpPr>
          <p:cNvPr id="5" name="Link 1">
            <a:hlinkClick r:id="rId2" tooltip=""/>
          </p:cNvPr>
          <p:cNvSpPr txBox="1"/>
          <p:nvPr/>
        </p:nvSpPr>
        <p:spPr>
          <a:xfrm>
            <a:off x="914400" y="3703320"/>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github.com/parthdhawan921-ops/bike-sharing-demand-analysis</a:t>
            </a:r>
            <a:endParaRPr lang="en-US" sz="1400" dirty="0"/>
          </a:p>
        </p:txBody>
      </p:sp>
      <p:pic>
        <p:nvPicPr>
          <p:cNvPr id="6" name="Link icon 2" descr="link">    </p:cNvPr>
          <p:cNvPicPr>
            <a:picLocks noChangeAspect="1"/>
          </p:cNvPicPr>
          <p:nvPr/>
        </p:nvPicPr>
        <p:blipFill>
          <a:blip r:embed="rId3"/>
          <a:stretch>
            <a:fillRect/>
          </a:stretch>
        </p:blipFill>
        <p:spPr>
          <a:xfrm>
            <a:off x="548640" y="4123944"/>
            <a:ext cx="237744" cy="237744"/>
          </a:xfrm>
          <a:prstGeom prst="rect">
            <a:avLst/>
          </a:prstGeom>
        </p:spPr>
      </p:pic>
      <p:sp>
        <p:nvSpPr>
          <p:cNvPr id="7" name="Link 2">
            <a:hlinkClick r:id="rId4" tooltip=""/>
          </p:cNvPr>
          <p:cNvSpPr txBox="1"/>
          <p:nvPr/>
        </p:nvSpPr>
        <p:spPr>
          <a:xfrm>
            <a:off x="914400" y="4087368"/>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parthdhawan921-ops.github.io/Parth_Personal/#bike</a:t>
            </a:r>
            <a:endParaRPr lang="en-US" sz="1400" dirty="0"/>
          </a:p>
        </p:txBody>
      </p:sp>
      <p:pic>
        <p:nvPicPr>
          <p:cNvPr id="8" name="Link icon 3" descr="mail">    </p:cNvPr>
          <p:cNvPicPr>
            <a:picLocks noChangeAspect="1"/>
          </p:cNvPicPr>
          <p:nvPr/>
        </p:nvPicPr>
        <p:blipFill>
          <a:blip r:embed="rId5"/>
          <a:stretch>
            <a:fillRect/>
          </a:stretch>
        </p:blipFill>
        <p:spPr>
          <a:xfrm>
            <a:off x="548640" y="4507992"/>
            <a:ext cx="237744" cy="237744"/>
          </a:xfrm>
          <a:prstGeom prst="rect">
            <a:avLst/>
          </a:prstGeom>
        </p:spPr>
      </p:pic>
      <p:sp>
        <p:nvSpPr>
          <p:cNvPr id="9" name="Link 3">
            <a:hlinkClick r:id="rId6" tooltip=""/>
          </p:cNvPr>
          <p:cNvSpPr txBox="1"/>
          <p:nvPr/>
        </p:nvSpPr>
        <p:spPr>
          <a:xfrm>
            <a:off x="914400" y="4471416"/>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6" invalidUrl="" action="" tgtFrame="" tooltip="" history="1" highlightClick="0" endSnd="0">
                  <a:extLst>
                    <a:ext uri="{A12FA001-AC4F-418D-AE19-62706E023703}">
                      <ahyp:hlinkClr xmlns:ahyp="http://schemas.microsoft.com/office/drawing/2018/hyperlinkcolor" val="tx"/>
                    </a:ext>
                  </a:extLst>
                </a:hlinkClick>
              </a:rPr>
              <a:t>parthdhawan921@gmail.com  ·  +91 70823 35959</a:t>
            </a:r>
            <a:endParaRPr lang="en-US" sz="1400" dirty="0"/>
          </a:p>
        </p:txBody>
      </p:sp>
    </p:spTree>
  </p:cSld>
  <p:clrMapOvr>
    <a:masterClrMapping/>
  </p:clrMapOvr>
</p:sld>
</file>

<file path=ppt/theme/theme1.xml><?xml version="1.0" encoding="utf-8"?>
<a:theme xmlns:a="http://schemas.openxmlformats.org/drawingml/2006/main" name="Bike Share Teal">
  <a:themeElements>
    <a:clrScheme name="Bike Share Teal">
      <a:dk1>
        <a:srgbClr val="13262E"/>
      </a:dk1>
      <a:lt1>
        <a:srgbClr val="FFFFFF"/>
      </a:lt1>
      <a:dk2>
        <a:srgbClr val="0C3B47"/>
      </a:dk2>
      <a:lt2>
        <a:srgbClr val="EEF4F5"/>
      </a:lt2>
      <a:accent1>
        <a:srgbClr val="0E8A74"/>
      </a:accent1>
      <a:accent2>
        <a:srgbClr val="E99A2C"/>
      </a:accent2>
      <a:accent3>
        <a:srgbClr val="C8423F"/>
      </a:accent3>
      <a:accent4>
        <a:srgbClr val="5B7581"/>
      </a:accent4>
      <a:accent5>
        <a:srgbClr val="8DC7B8"/>
      </a:accent5>
      <a:accent6>
        <a:srgbClr val="1F4E79"/>
      </a:accent6>
      <a:hlink>
        <a:srgbClr val="0E8A74"/>
      </a:hlink>
      <a:folHlink>
        <a:srgbClr val="5B7581"/>
      </a:folHlink>
    </a:clrScheme>
    <a:fontScheme name="Bike Share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Bike-sharing demand analysis</dc:title>
  <dc:subject>PptxGenJS Presentation</dc:subject>
  <dc:creator>Parth Dhawan</dc:creator>
  <cp:lastModifiedBy>Parth Dhawan</cp:lastModifiedBy>
  <cp:revision>1</cp:revision>
  <dcterms:created xsi:type="dcterms:W3CDTF">2026-10-25T07:42:12Z</dcterms:created>
  <dcterms:modified xsi:type="dcterms:W3CDTF">2026-10-25T07:42:12Z</dcterms:modified>
</cp:coreProperties>
</file>